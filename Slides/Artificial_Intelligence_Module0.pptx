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sldIdLst>
    <p:sldId id="256" r:id="rId5"/>
    <p:sldId id="264" r:id="rId6"/>
    <p:sldId id="257" r:id="rId7"/>
    <p:sldId id="260" r:id="rId8"/>
    <p:sldId id="258" r:id="rId9"/>
    <p:sldId id="262" r:id="rId10"/>
    <p:sldId id="263" r:id="rId11"/>
    <p:sldId id="265" r:id="rId12"/>
    <p:sldId id="266" r:id="rId13"/>
    <p:sldId id="267" r:id="rId14"/>
    <p:sldId id="268" r:id="rId15"/>
    <p:sldId id="259" r:id="rId16"/>
    <p:sldId id="269"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8693" autoAdjust="0"/>
  </p:normalViewPr>
  <p:slideViewPr>
    <p:cSldViewPr>
      <p:cViewPr varScale="1">
        <p:scale>
          <a:sx n="48" d="100"/>
          <a:sy n="48" d="100"/>
        </p:scale>
        <p:origin x="2030" y="53"/>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66CB0-D60F-4BE5-83D4-0DD72108AD14}" type="datetimeFigureOut">
              <a:rPr lang="en-US" smtClean="0"/>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CF031E-D17A-4139-B770-A41292C01C8F}" type="slidenum">
              <a:rPr lang="en-US" smtClean="0"/>
              <a:t>‹#›</a:t>
            </a:fld>
            <a:endParaRPr lang="en-US"/>
          </a:p>
        </p:txBody>
      </p:sp>
    </p:spTree>
    <p:extLst>
      <p:ext uri="{BB962C8B-B14F-4D97-AF65-F5344CB8AC3E}">
        <p14:creationId xmlns:p14="http://schemas.microsoft.com/office/powerpoint/2010/main" val="1402829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esa.int/Applications/Observing_the_Earth/Earth_from_Space_Mississippi_River_Delta"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n.wikipedia.org/wiki/John_McCarthy_(computer_scientist)"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Nils_John_Nilsson"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gemini.google.com/"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Alan_Turing"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Earth from Space: Mississippi River Delta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Landsat image of 3 October 2011 shows the Mississippi River Delta, where the largest river in the United States empties into the Gulf of Mexico.</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this false-</a:t>
            </a:r>
            <a:r>
              <a:rPr lang="en-US" sz="1200" b="0" i="0" kern="1200" dirty="0" err="1">
                <a:solidFill>
                  <a:schemeClr val="tx1"/>
                </a:solidFill>
                <a:effectLst/>
                <a:latin typeface="+mn-lt"/>
                <a:ea typeface="+mn-ea"/>
                <a:cs typeface="+mn-cs"/>
              </a:rPr>
              <a:t>colour</a:t>
            </a:r>
            <a:r>
              <a:rPr lang="en-US" sz="1200" b="0" i="0" kern="1200" dirty="0">
                <a:solidFill>
                  <a:schemeClr val="tx1"/>
                </a:solidFill>
                <a:effectLst/>
                <a:latin typeface="+mn-lt"/>
                <a:ea typeface="+mn-ea"/>
                <a:cs typeface="+mn-cs"/>
              </a:rPr>
              <a:t> image, land vegetation appears pink, while the sediment in the surrounding waters are bright blue and green. The delta is known as the 'bird-foot' delta because of the shape created by the channels extending outward.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size of the Mississippi River Delta built over millions of years owing to sediment deposition. The tons of sediment carried by the river system created the wetlands in southern Louisiana, which are home to many endangered species and help to protect the mainland from hurricane winds by acting like speed bumps.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Over the last several decades, however, the delta’s sediment load has been drastically reduced by natural and man-made factors. Extensive oil and gas extraction causes the subsidence of the delta and wetlands, and rising sea levels increase erosion as the fresh water vegetation dies due to the influx of salt water.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Currently, a chunk of land the size of a football field is lost about every half an hour.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2005, Hurricane Katrina destroyed much of the wetlands, while the 2010 Deepwater Horizon oil spill affected natural wildlife and the fishing industry.</a:t>
            </a:r>
          </a:p>
          <a:p>
            <a:r>
              <a:rPr lang="en-US" sz="1200" b="0" i="0" kern="1200" dirty="0">
                <a:solidFill>
                  <a:schemeClr val="tx1"/>
                </a:solidFill>
                <a:effectLst/>
                <a:latin typeface="+mn-lt"/>
                <a:ea typeface="+mn-ea"/>
                <a:cs typeface="+mn-cs"/>
              </a:rPr>
              <a:t>This area is of significant economic importance, providing about 17% of the oil supply in the US, and 16% of fisheries harvest, such as shrimp, crabs and crayfish. A third of the nation’s oysters come from the Mississippi River Delta.</a:t>
            </a:r>
          </a:p>
          <a:p>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Reference: </a:t>
            </a:r>
            <a:r>
              <a:rPr lang="en-US" dirty="0"/>
              <a:t>European Space Agency. (n.d.). </a:t>
            </a:r>
            <a:r>
              <a:rPr lang="en-US" i="1" dirty="0"/>
              <a:t>Earth from space: Mississippi River Delta</a:t>
            </a:r>
            <a:r>
              <a:rPr lang="en-US" dirty="0"/>
              <a:t>. </a:t>
            </a:r>
            <a:r>
              <a:rPr lang="en-US" dirty="0">
                <a:hlinkClick r:id="rId3"/>
              </a:rPr>
              <a:t>https://www.esa.int/Applications/Observing_the_Earth/Earth_from_Space_Mississippi_River_Delta</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CCF031E-D17A-4139-B770-A41292C01C8F}" type="slidenum">
              <a:rPr lang="en-US" smtClean="0"/>
              <a:t>1</a:t>
            </a:fld>
            <a:endParaRPr lang="en-US"/>
          </a:p>
        </p:txBody>
      </p:sp>
    </p:spTree>
    <p:extLst>
      <p:ext uri="{BB962C8B-B14F-4D97-AF65-F5344CB8AC3E}">
        <p14:creationId xmlns:p14="http://schemas.microsoft.com/office/powerpoint/2010/main" val="951534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CF031E-D17A-4139-B770-A41292C01C8F}" type="slidenum">
              <a:rPr lang="en-US" smtClean="0"/>
              <a:t>2</a:t>
            </a:fld>
            <a:endParaRPr lang="en-US"/>
          </a:p>
        </p:txBody>
      </p:sp>
    </p:spTree>
    <p:extLst>
      <p:ext uri="{BB962C8B-B14F-4D97-AF65-F5344CB8AC3E}">
        <p14:creationId xmlns:p14="http://schemas.microsoft.com/office/powerpoint/2010/main" val="229305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John McCarthy was an American computer scientist and cognitive scientist. He coined the term “Artificial Intelligence”, led the development of the programming language Lisp, popularized time-sharing, and created garbage collection.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McCarthy points out that we don't have a universal definition of intelligence yet, and this remains true to today. We call things intelligent when they solve tasks that used to require a human brain (like translating languages, playing chess or go, or driving a car), but as soon as a machine masters a task, we often stop calling it true intelligence and just call it software. This is a phenomenon known in computer science as the </a:t>
            </a:r>
            <a:r>
              <a:rPr lang="en-US" sz="1200" b="1" kern="1200" dirty="0">
                <a:solidFill>
                  <a:schemeClr val="tx1"/>
                </a:solidFill>
                <a:effectLst/>
                <a:latin typeface="+mn-lt"/>
                <a:ea typeface="+mn-ea"/>
                <a:cs typeface="+mn-cs"/>
              </a:rPr>
              <a:t>AI Effect</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May this remind us that AI is an engineering discipline aimed at solving problems, rather than a quest to build an exact mechanical copy of a human being.</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Reference: </a:t>
            </a:r>
            <a:r>
              <a:rPr lang="en-US" dirty="0"/>
              <a:t>Wikipedia. (2026, June 05). </a:t>
            </a:r>
            <a:r>
              <a:rPr lang="en-US" i="1" dirty="0"/>
              <a:t>John McCarthy (computer scientist)</a:t>
            </a:r>
            <a:r>
              <a:rPr lang="en-US" dirty="0"/>
              <a:t>. </a:t>
            </a:r>
            <a:r>
              <a:rPr lang="en-US" dirty="0">
                <a:hlinkClick r:id="rId3"/>
              </a:rPr>
              <a:t>John McCarthy (computer scientist) - Wikipedia</a:t>
            </a:r>
            <a:endParaRPr lang="en-US" dirty="0"/>
          </a:p>
        </p:txBody>
      </p:sp>
      <p:sp>
        <p:nvSpPr>
          <p:cNvPr id="4" name="Slide Number Placeholder 3"/>
          <p:cNvSpPr>
            <a:spLocks noGrp="1"/>
          </p:cNvSpPr>
          <p:nvPr>
            <p:ph type="sldNum" sz="quarter" idx="5"/>
          </p:nvPr>
        </p:nvSpPr>
        <p:spPr/>
        <p:txBody>
          <a:bodyPr/>
          <a:lstStyle/>
          <a:p>
            <a:fld id="{2CCF031E-D17A-4139-B770-A41292C01C8F}" type="slidenum">
              <a:rPr lang="en-US" smtClean="0"/>
              <a:t>3</a:t>
            </a:fld>
            <a:endParaRPr lang="en-US"/>
          </a:p>
        </p:txBody>
      </p:sp>
    </p:spTree>
    <p:extLst>
      <p:ext uri="{BB962C8B-B14F-4D97-AF65-F5344CB8AC3E}">
        <p14:creationId xmlns:p14="http://schemas.microsoft.com/office/powerpoint/2010/main" val="3812305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C2827-FD84-67A1-4201-ADD63C1DF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32A8D-AD6A-D359-0E52-0D34CBE37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45351F-8B2A-D6C2-C68A-CFF3012F3FAD}"/>
              </a:ext>
            </a:extLst>
          </p:cNvPr>
          <p:cNvSpPr>
            <a:spLocks noGrp="1"/>
          </p:cNvSpPr>
          <p:nvPr>
            <p:ph type="body" idx="1"/>
          </p:nvPr>
        </p:nvSpPr>
        <p:spPr/>
        <p:txBody>
          <a:bodyPr/>
          <a:lstStyle/>
          <a:p>
            <a:r>
              <a:rPr lang="en-US" dirty="0"/>
              <a:t>This slide, alongside McCarthy's views, creates an interesting parallel. McCarthy noted that we cannot yet fully characterize what makes a computational procedure intelligent. Gardner’s framework may offer an explanation: human intelligence isn't a monolith. When engineers build AI, they often tackle one sliver of Gardner's wheel at a time. For instance, we train symbolic and statistical models to be "word smart" (like Stanford </a:t>
            </a:r>
            <a:r>
              <a:rPr lang="en-US" dirty="0" err="1"/>
              <a:t>CoreNLP</a:t>
            </a:r>
            <a:r>
              <a:rPr lang="en-US" dirty="0"/>
              <a:t>), or transformer models paired with diffusion processes to be "music smart" (like Suno AI). We even train robots using computer vision and behavior cloning to achieve "body smart" autonomy. Today, modern LLMs demonstrate the greatest diversity of application, bridging multiple domains simultaneously by proving to be language smart, logic smart, and picture smart.</a:t>
            </a:r>
          </a:p>
          <a:p>
            <a:endParaRPr lang="en-US" dirty="0"/>
          </a:p>
          <a:p>
            <a:endParaRPr lang="en-US" dirty="0"/>
          </a:p>
        </p:txBody>
      </p:sp>
      <p:sp>
        <p:nvSpPr>
          <p:cNvPr id="4" name="Slide Number Placeholder 3">
            <a:extLst>
              <a:ext uri="{FF2B5EF4-FFF2-40B4-BE49-F238E27FC236}">
                <a16:creationId xmlns:a16="http://schemas.microsoft.com/office/drawing/2014/main" id="{E9B18499-43C0-04B6-C85D-69C3C18D376D}"/>
              </a:ext>
            </a:extLst>
          </p:cNvPr>
          <p:cNvSpPr>
            <a:spLocks noGrp="1"/>
          </p:cNvSpPr>
          <p:nvPr>
            <p:ph type="sldNum" sz="quarter" idx="5"/>
          </p:nvPr>
        </p:nvSpPr>
        <p:spPr/>
        <p:txBody>
          <a:bodyPr/>
          <a:lstStyle/>
          <a:p>
            <a:fld id="{2CCF031E-D17A-4139-B770-A41292C01C8F}" type="slidenum">
              <a:rPr lang="en-US" smtClean="0"/>
              <a:t>5</a:t>
            </a:fld>
            <a:endParaRPr lang="en-US"/>
          </a:p>
        </p:txBody>
      </p:sp>
    </p:spTree>
    <p:extLst>
      <p:ext uri="{BB962C8B-B14F-4D97-AF65-F5344CB8AC3E}">
        <p14:creationId xmlns:p14="http://schemas.microsoft.com/office/powerpoint/2010/main" val="2489065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0FD22-67AF-15A0-EAEB-E91E400B9E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636E4-86CA-D704-35D5-2FE6A6C17A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F1CFD7-7690-6027-0594-8AECACE8A6AA}"/>
              </a:ext>
            </a:extLst>
          </p:cNvPr>
          <p:cNvSpPr>
            <a:spLocks noGrp="1"/>
          </p:cNvSpPr>
          <p:nvPr>
            <p:ph type="body" idx="1"/>
          </p:nvPr>
        </p:nvSpPr>
        <p:spPr/>
        <p:txBody>
          <a:bodyPr/>
          <a:lstStyle/>
          <a:p>
            <a:r>
              <a:rPr lang="en-US" sz="1200" dirty="0"/>
              <a:t>Nils John Nilsson was an American computer scientist, and he was one of the founding researchers in the field of artificial intelligence. He is known for leading a team in the construction of a robot named Shakey. </a:t>
            </a:r>
            <a:r>
              <a:rPr lang="en-US" sz="1200" b="0" i="0" kern="1200" dirty="0">
                <a:solidFill>
                  <a:schemeClr val="tx1"/>
                </a:solidFill>
                <a:effectLst/>
                <a:latin typeface="+mn-lt"/>
                <a:ea typeface="+mn-ea"/>
                <a:cs typeface="+mn-cs"/>
              </a:rPr>
              <a:t>Shakey constructed a model of its environment from sensor data, reasoned about that environment to arrive at a plan of action, then carried that plan out by sending commands to its motors. Nilsson's group was the first to embody it in a complete agent, along the way inventing the A* search algorithm and founding the field of </a:t>
            </a:r>
            <a:r>
              <a:rPr lang="en-US" sz="1200" b="0" i="0" u="none" strike="noStrike" kern="1200" dirty="0">
                <a:solidFill>
                  <a:schemeClr val="tx1"/>
                </a:solidFill>
                <a:effectLst/>
                <a:latin typeface="+mn-lt"/>
                <a:ea typeface="+mn-ea"/>
                <a:cs typeface="+mn-cs"/>
              </a:rPr>
              <a:t>automated planning and scheduling.</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Reference: </a:t>
            </a:r>
            <a:r>
              <a:rPr lang="en-US" dirty="0"/>
              <a:t>Wikipedia. (2026, June 05). </a:t>
            </a:r>
            <a:r>
              <a:rPr lang="en-US" i="1" dirty="0"/>
              <a:t>Nils John Nilsson</a:t>
            </a:r>
            <a:r>
              <a:rPr lang="en-US" dirty="0"/>
              <a:t>. </a:t>
            </a:r>
            <a:r>
              <a:rPr lang="en-US" dirty="0">
                <a:hlinkClick r:id="rId3"/>
              </a:rPr>
              <a:t>https://en.wikipedia.org/wiki/Nils_John_Nilsson</a:t>
            </a:r>
            <a:endParaRPr lang="en-US" dirty="0"/>
          </a:p>
          <a:p>
            <a:endParaRPr lang="en-US" dirty="0"/>
          </a:p>
          <a:p>
            <a:r>
              <a:rPr lang="en-US" dirty="0"/>
              <a:t>This brings us to a crucial realization; </a:t>
            </a:r>
            <a:r>
              <a:rPr lang="en-US" b="1" dirty="0"/>
              <a:t>intelligent behavior is not distinct to artificial intelligence or human intelligence. </a:t>
            </a:r>
            <a:r>
              <a:rPr lang="en-US" dirty="0"/>
              <a:t>When Nils Nilsson defines intelligent behavior, he doesn't limit it to humans or machines. Instead, he describes a universal loop; an entity must perceive its environment, reason through ambiguity, learn from its experiences, and take flexible action.</a:t>
            </a:r>
          </a:p>
          <a:p>
            <a:r>
              <a:rPr lang="en-US" dirty="0"/>
              <a:t>Ultimately, AI isn't about simulating human consciousness; it's about engineering systems that exhibit these exact same adaptable, problem-solving behaviors.</a:t>
            </a:r>
          </a:p>
          <a:p>
            <a:endParaRPr lang="en-US" dirty="0"/>
          </a:p>
          <a:p>
            <a:endParaRPr lang="en-US" dirty="0"/>
          </a:p>
        </p:txBody>
      </p:sp>
      <p:sp>
        <p:nvSpPr>
          <p:cNvPr id="4" name="Slide Number Placeholder 3">
            <a:extLst>
              <a:ext uri="{FF2B5EF4-FFF2-40B4-BE49-F238E27FC236}">
                <a16:creationId xmlns:a16="http://schemas.microsoft.com/office/drawing/2014/main" id="{534B3920-7305-3967-A313-4CEBBA88F774}"/>
              </a:ext>
            </a:extLst>
          </p:cNvPr>
          <p:cNvSpPr>
            <a:spLocks noGrp="1"/>
          </p:cNvSpPr>
          <p:nvPr>
            <p:ph type="sldNum" sz="quarter" idx="5"/>
          </p:nvPr>
        </p:nvSpPr>
        <p:spPr/>
        <p:txBody>
          <a:bodyPr/>
          <a:lstStyle/>
          <a:p>
            <a:fld id="{2CCF031E-D17A-4139-B770-A41292C01C8F}" type="slidenum">
              <a:rPr lang="en-US" smtClean="0"/>
              <a:t>6</a:t>
            </a:fld>
            <a:endParaRPr lang="en-US"/>
          </a:p>
        </p:txBody>
      </p:sp>
    </p:spTree>
    <p:extLst>
      <p:ext uri="{BB962C8B-B14F-4D97-AF65-F5344CB8AC3E}">
        <p14:creationId xmlns:p14="http://schemas.microsoft.com/office/powerpoint/2010/main" val="2921734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look back at the </a:t>
            </a:r>
            <a:r>
              <a:rPr lang="en-US" b="0" dirty="0"/>
              <a:t>1956 Dartmouth, </a:t>
            </a:r>
            <a:r>
              <a:rPr lang="en-US" dirty="0"/>
              <a:t>we can understand that the founding fathers of AI didn't agree on a single path to intelligence. </a:t>
            </a:r>
            <a:endParaRPr lang="en-US" b="1" dirty="0"/>
          </a:p>
          <a:p>
            <a:endParaRPr lang="en-US" b="1" dirty="0"/>
          </a:p>
          <a:p>
            <a:r>
              <a:rPr lang="en-US" b="1" dirty="0"/>
              <a:t>1. Arthur Samuel: The Checkers Player (Machine Learning)</a:t>
            </a:r>
          </a:p>
          <a:p>
            <a:r>
              <a:rPr lang="en-US" dirty="0"/>
              <a:t>Instead of trying to program every possible move and strategy into a computer, Arthur Samuel wrote a program that taught itself how to play checkers.</a:t>
            </a:r>
          </a:p>
          <a:p>
            <a:endParaRPr lang="en-US" dirty="0"/>
          </a:p>
          <a:p>
            <a:r>
              <a:rPr lang="en-US" b="1" dirty="0"/>
              <a:t>How it worked:</a:t>
            </a:r>
            <a:r>
              <a:rPr lang="en-US" dirty="0"/>
              <a:t> He programmed the computer to play games against itself and keep track of which board positions most frequently led to a win.</a:t>
            </a:r>
          </a:p>
          <a:p>
            <a:endParaRPr lang="en-US" dirty="0"/>
          </a:p>
          <a:p>
            <a:r>
              <a:rPr lang="en-US" b="1" dirty="0"/>
              <a:t>The Significance:</a:t>
            </a:r>
            <a:r>
              <a:rPr lang="en-US" dirty="0"/>
              <a:t> This was the first operational demonstration of </a:t>
            </a:r>
            <a:r>
              <a:rPr lang="en-US" b="1" dirty="0"/>
              <a:t>Machine Learning</a:t>
            </a:r>
            <a:r>
              <a:rPr lang="en-US" dirty="0"/>
              <a:t>. It proved that a machine could dynamically learn from experience and eventually outperform its own creator, laying the exact foundation for how we train modern models via reinforcement learning and behavior cloning.</a:t>
            </a:r>
          </a:p>
          <a:p>
            <a:endParaRPr lang="en-US" dirty="0"/>
          </a:p>
          <a:p>
            <a:r>
              <a:rPr lang="en-US" b="1" dirty="0"/>
              <a:t>2. Allen Newell &amp; Herbert Simon: The Logic Theorist (Symbolic Logic)</a:t>
            </a:r>
          </a:p>
          <a:p>
            <a:r>
              <a:rPr lang="en-US" dirty="0"/>
              <a:t>Newell and Simon wanted to prove that machines could mimic the "Logic Smart" dimension of human thought. They created a program called the </a:t>
            </a:r>
            <a:r>
              <a:rPr lang="en-US" i="1" dirty="0"/>
              <a:t>Logic Theorist</a:t>
            </a:r>
            <a:r>
              <a:rPr lang="en-US" dirty="0"/>
              <a:t>.</a:t>
            </a:r>
          </a:p>
          <a:p>
            <a:endParaRPr lang="en-US" dirty="0"/>
          </a:p>
          <a:p>
            <a:r>
              <a:rPr lang="en-US" b="1" dirty="0"/>
              <a:t>How it worked:</a:t>
            </a:r>
            <a:r>
              <a:rPr lang="en-US" dirty="0"/>
              <a:t> They fed the program the foundational axioms of mathematics and instructed it to find proofs for complex geometric and algebraic theorems.</a:t>
            </a:r>
          </a:p>
          <a:p>
            <a:endParaRPr lang="en-US" dirty="0"/>
          </a:p>
          <a:p>
            <a:r>
              <a:rPr lang="en-US" b="1" dirty="0"/>
              <a:t>The Significance:</a:t>
            </a:r>
            <a:r>
              <a:rPr lang="en-US" dirty="0"/>
              <a:t> It successfully found, step-by-step logical proofs for 38 theorems from Bertrand Russell’s </a:t>
            </a:r>
            <a:r>
              <a:rPr lang="en-US" i="1" dirty="0"/>
              <a:t>Principia Mathematica</a:t>
            </a:r>
            <a:r>
              <a:rPr lang="en-US" dirty="0"/>
              <a:t> and even found a proof for one theorem that was shorter and more elegant than the one Russell had written himself. It was a massive milestone for rule-based, symbolic AI.</a:t>
            </a:r>
          </a:p>
          <a:p>
            <a:endParaRPr lang="en-US" dirty="0"/>
          </a:p>
          <a:p>
            <a:r>
              <a:rPr lang="en-US" b="1" dirty="0"/>
              <a:t>3. Marvin Minsky: The Stochastic Neural-Analog Reinforcement Calculator (SNARC)</a:t>
            </a:r>
          </a:p>
          <a:p>
            <a:r>
              <a:rPr lang="en-US" dirty="0"/>
              <a:t>Before he focused heavily on symbolic cognitive frameworks, a young Marvin Minsky built the world's very first artificial neural network simulator in 1951.</a:t>
            </a:r>
          </a:p>
          <a:p>
            <a:endParaRPr lang="en-US" dirty="0"/>
          </a:p>
          <a:p>
            <a:r>
              <a:rPr lang="en-US" b="1" dirty="0"/>
              <a:t>How it worked:</a:t>
            </a:r>
            <a:r>
              <a:rPr lang="en-US" dirty="0"/>
              <a:t> Using 3,000 vacuum tubes, motors, and clutches, Minsky built a physical machine that simulated a network of 40 interconnected neurons. He used it to simulate a "rat" navigating through a maze. When the machine made a correct turn toward the exit, it was rewarded with an electrical signal that strengthened those specific physical connections.</a:t>
            </a:r>
          </a:p>
          <a:p>
            <a:endParaRPr lang="en-US" dirty="0"/>
          </a:p>
          <a:p>
            <a:r>
              <a:rPr lang="en-US" b="1" dirty="0"/>
              <a:t>The Significance:</a:t>
            </a:r>
            <a:r>
              <a:rPr lang="en-US" dirty="0"/>
              <a:t> This was the primitive ancestor to modern </a:t>
            </a:r>
            <a:r>
              <a:rPr lang="en-US" b="1" dirty="0"/>
              <a:t>Deep Learning</a:t>
            </a:r>
            <a:r>
              <a:rPr lang="en-US" dirty="0"/>
              <a:t>. Minsky physically demonstrated that a network of simple, non-intelligent components could adjust its internal weights to learn a complex physical behavior.</a:t>
            </a:r>
          </a:p>
          <a:p>
            <a:endParaRPr lang="en-US" dirty="0"/>
          </a:p>
          <a:p>
            <a:r>
              <a:rPr lang="en-US" b="1" dirty="0"/>
              <a:t>4. John McCarthy: Advice Taker &amp; LISP (Goal-Achieving Logic)</a:t>
            </a:r>
          </a:p>
          <a:p>
            <a:r>
              <a:rPr lang="en-US" dirty="0"/>
              <a:t>True to his definition that AI should be free to use non-biological computational methods, John McCarthy created </a:t>
            </a:r>
            <a:r>
              <a:rPr lang="en-US" b="1" dirty="0"/>
              <a:t>LISP</a:t>
            </a:r>
            <a:r>
              <a:rPr lang="en-US" dirty="0"/>
              <a:t> (List Processing) in 1958, the programming language that became the standard for AI research for decades.</a:t>
            </a:r>
          </a:p>
          <a:p>
            <a:endParaRPr lang="en-US" dirty="0"/>
          </a:p>
          <a:p>
            <a:r>
              <a:rPr lang="en-US" b="1" dirty="0"/>
              <a:t>How it worked:</a:t>
            </a:r>
            <a:r>
              <a:rPr lang="en-US" dirty="0"/>
              <a:t> He designed a proposed system called the </a:t>
            </a:r>
            <a:r>
              <a:rPr lang="en-US" i="1" dirty="0"/>
              <a:t>Advice Taker</a:t>
            </a:r>
            <a:r>
              <a:rPr lang="en-US" dirty="0"/>
              <a:t>. It was a program designed to search through a database of formal declarations and make logical deductions to achieve a real-world goal (e.g., deducing that to get to the airport, it must drive a car, and to drive a car, it needs keys).</a:t>
            </a:r>
          </a:p>
          <a:p>
            <a:endParaRPr lang="en-US" dirty="0"/>
          </a:p>
          <a:p>
            <a:r>
              <a:rPr lang="en-US" b="1" dirty="0"/>
              <a:t>The Significance:</a:t>
            </a:r>
            <a:r>
              <a:rPr lang="en-US" dirty="0"/>
              <a:t> McCarthy showed that intelligence could be modeled as a pure search and optimization problem over logical statements, giving birth to classical AI pathfinding and decision-making algorithms.</a:t>
            </a:r>
          </a:p>
          <a:p>
            <a:endParaRPr lang="en-US" dirty="0"/>
          </a:p>
          <a:p>
            <a:r>
              <a:rPr lang="en-US" i="1" dirty="0"/>
              <a:t>Reference: </a:t>
            </a:r>
            <a:r>
              <a:rPr lang="en-US" dirty="0"/>
              <a:t>Gemini. (2026, June 12). </a:t>
            </a:r>
            <a:r>
              <a:rPr lang="en-US" i="1" dirty="0"/>
              <a:t>[AI-generated summary of foundational milestones in artificial intelligence history]</a:t>
            </a:r>
            <a:r>
              <a:rPr lang="en-US" dirty="0"/>
              <a:t> [Large language model]. Google. </a:t>
            </a:r>
            <a:r>
              <a:rPr lang="en-US" dirty="0">
                <a:hlinkClick r:id="rId3"/>
              </a:rPr>
              <a:t>https://gemini.google.com/</a:t>
            </a:r>
            <a:endParaRPr lang="en-US" i="1" dirty="0"/>
          </a:p>
          <a:p>
            <a:endParaRPr lang="en-US" dirty="0"/>
          </a:p>
        </p:txBody>
      </p:sp>
      <p:sp>
        <p:nvSpPr>
          <p:cNvPr id="4" name="Slide Number Placeholder 3"/>
          <p:cNvSpPr>
            <a:spLocks noGrp="1"/>
          </p:cNvSpPr>
          <p:nvPr>
            <p:ph type="sldNum" sz="quarter" idx="5"/>
          </p:nvPr>
        </p:nvSpPr>
        <p:spPr/>
        <p:txBody>
          <a:bodyPr/>
          <a:lstStyle/>
          <a:p>
            <a:fld id="{2CCF031E-D17A-4139-B770-A41292C01C8F}" type="slidenum">
              <a:rPr lang="en-US" smtClean="0"/>
              <a:t>7</a:t>
            </a:fld>
            <a:endParaRPr lang="en-US"/>
          </a:p>
        </p:txBody>
      </p:sp>
    </p:spTree>
    <p:extLst>
      <p:ext uri="{BB962C8B-B14F-4D97-AF65-F5344CB8AC3E}">
        <p14:creationId xmlns:p14="http://schemas.microsoft.com/office/powerpoint/2010/main" val="955526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b="1" dirty="0"/>
              <a:t>Boom 1 (1960s) "GOFAI" (Good Old-Fashioned AI):</a:t>
            </a:r>
            <a:r>
              <a:rPr lang="en-US" dirty="0"/>
              <a:t> </a:t>
            </a:r>
          </a:p>
          <a:p>
            <a:r>
              <a:rPr lang="en-US" dirty="0"/>
              <a:t>Centered on heuristic search and early logic programs. This era includes the work of the founders we just discussed.</a:t>
            </a:r>
          </a:p>
          <a:p>
            <a:endParaRPr lang="en-US" dirty="0"/>
          </a:p>
          <a:p>
            <a:r>
              <a:rPr lang="en-US" b="1" dirty="0"/>
              <a:t>Winter 1 (Mid-1970s):</a:t>
            </a:r>
            <a:endParaRPr lang="en-US" dirty="0"/>
          </a:p>
          <a:p>
            <a:r>
              <a:rPr lang="en-US" i="1" dirty="0"/>
              <a:t>Triggers:</a:t>
            </a:r>
            <a:r>
              <a:rPr lang="en-US" dirty="0"/>
              <a:t> Overhyped symbolic AI, disappointing early language translation, slow/expensive hardware, and algorithms failing to handle real-world ambiguity or scale.</a:t>
            </a:r>
          </a:p>
          <a:p>
            <a:r>
              <a:rPr lang="en-US" i="1" dirty="0"/>
              <a:t>Recovery:</a:t>
            </a:r>
            <a:r>
              <a:rPr lang="en-US" dirty="0"/>
              <a:t> The late 1970s brought specialized expert systems and microprocessors that enabled niche corporate successes.</a:t>
            </a:r>
          </a:p>
          <a:p>
            <a:endParaRPr lang="en-US" dirty="0"/>
          </a:p>
          <a:p>
            <a:r>
              <a:rPr lang="en-US" b="1" dirty="0"/>
              <a:t>Boom 2 (1980s) "Expert Systems":</a:t>
            </a:r>
            <a:r>
              <a:rPr lang="en-US" dirty="0"/>
              <a:t> </a:t>
            </a:r>
          </a:p>
          <a:p>
            <a:r>
              <a:rPr lang="en-US" dirty="0"/>
              <a:t>Shifted focus toward </a:t>
            </a:r>
            <a:r>
              <a:rPr lang="en-US" i="0" dirty="0"/>
              <a:t>knowledge engineering </a:t>
            </a:r>
            <a:r>
              <a:rPr lang="en-US" dirty="0"/>
              <a:t>and corporate-focused, rule-based software like DENDRAL and MYCIN, alongside languages like Prolog and Lisp.</a:t>
            </a:r>
          </a:p>
          <a:p>
            <a:endParaRPr lang="en-US" dirty="0"/>
          </a:p>
          <a:p>
            <a:r>
              <a:rPr lang="en-US" b="1" dirty="0"/>
              <a:t>Winter 2 (Late 1980s – Mid-1990s):</a:t>
            </a:r>
            <a:endParaRPr lang="en-US" dirty="0"/>
          </a:p>
          <a:p>
            <a:r>
              <a:rPr lang="en-US" i="1" dirty="0"/>
              <a:t>Triggers:</a:t>
            </a:r>
            <a:r>
              <a:rPr lang="en-US" dirty="0"/>
              <a:t> The expert systems bubble burst because they proved brittle and costly to maintain. Specialized AI hardware (such as "LISP machines") became obsolete, leading to corporate R&amp;D pullbacks and economic downturns.</a:t>
            </a:r>
          </a:p>
          <a:p>
            <a:r>
              <a:rPr lang="en-US" i="1" dirty="0"/>
              <a:t>Recovery:</a:t>
            </a:r>
            <a:r>
              <a:rPr lang="en-US" dirty="0"/>
              <a:t> A shift in the mid-to-late 1990s toward statistical machine learning and data mining, combined with significantly more powerful computers.</a:t>
            </a:r>
          </a:p>
          <a:p>
            <a:endParaRPr lang="en-US" dirty="0"/>
          </a:p>
          <a:p>
            <a:r>
              <a:rPr lang="en-US" b="1" dirty="0"/>
              <a:t>Plateau (Early 2000s):</a:t>
            </a:r>
            <a:endParaRPr lang="en-US" dirty="0"/>
          </a:p>
          <a:p>
            <a:r>
              <a:rPr lang="en-US" i="1" dirty="0"/>
              <a:t>Triggers:</a:t>
            </a:r>
            <a:r>
              <a:rPr lang="en-US" dirty="0"/>
              <a:t> Not always classified as a full winter, this was a plateau where early neural networks stalled due to limited datasets, causing funding to shift elsewhere.</a:t>
            </a:r>
          </a:p>
          <a:p>
            <a:r>
              <a:rPr lang="en-US" i="1" dirty="0"/>
              <a:t>Recovery:</a:t>
            </a:r>
            <a:r>
              <a:rPr lang="en-US" dirty="0"/>
              <a:t> The breakthrough in Deep Learning architectures, fueled by GPUs and big data.</a:t>
            </a:r>
          </a:p>
          <a:p>
            <a:endParaRPr lang="en-US" dirty="0"/>
          </a:p>
          <a:p>
            <a:r>
              <a:rPr lang="en-US" b="1" dirty="0"/>
              <a:t>Boom 3 (2010s+) "Machine Learning":</a:t>
            </a:r>
            <a:r>
              <a:rPr lang="en-US" dirty="0"/>
              <a:t> </a:t>
            </a:r>
          </a:p>
          <a:p>
            <a:r>
              <a:rPr lang="en-US" dirty="0"/>
              <a:t>The massive explosion of modern Deep Learning, Autonomous Vehicles, and landmark gaming victories like </a:t>
            </a:r>
            <a:r>
              <a:rPr lang="en-US" i="0" dirty="0"/>
              <a:t>AlphaGo</a:t>
            </a:r>
            <a:r>
              <a:rPr lang="en-US" dirty="0"/>
              <a:t> and </a:t>
            </a:r>
            <a:r>
              <a:rPr lang="en-US" i="0" dirty="0" err="1"/>
              <a:t>Libratus</a:t>
            </a:r>
            <a:r>
              <a:rPr lang="en-US" dirty="0"/>
              <a:t>, culminating in massive social excitement and concern.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Winter 3 (?):</a:t>
            </a:r>
            <a:endParaRPr lang="en-US" dirty="0"/>
          </a:p>
          <a:p>
            <a:r>
              <a:rPr lang="en-US" b="0" i="1" dirty="0"/>
              <a:t>Potential Triggers: </a:t>
            </a:r>
            <a:r>
              <a:rPr lang="en-US" dirty="0"/>
              <a:t>Overpromising near-human capabilities, slower-than-expected return on investment (ROI) for enterprise businesses, and increasing friction from safety, ethics, and regulatory pushback.</a:t>
            </a:r>
          </a:p>
          <a:p>
            <a:r>
              <a:rPr lang="en-US" b="0" i="1" dirty="0"/>
              <a:t>Prescription for Prevention: </a:t>
            </a:r>
            <a:r>
              <a:rPr lang="en-US" dirty="0"/>
              <a:t>To potentially avoid a massive crash, maybe set realistic goals and timelines, delivering measurable value on actual production use-cases, and invest heavily in system reliability, safety, and interpretability.</a:t>
            </a:r>
          </a:p>
          <a:p>
            <a:endParaRPr lang="en-US" dirty="0"/>
          </a:p>
        </p:txBody>
      </p:sp>
      <p:sp>
        <p:nvSpPr>
          <p:cNvPr id="4" name="Slide Number Placeholder 3"/>
          <p:cNvSpPr>
            <a:spLocks noGrp="1"/>
          </p:cNvSpPr>
          <p:nvPr>
            <p:ph type="sldNum" sz="quarter" idx="5"/>
          </p:nvPr>
        </p:nvSpPr>
        <p:spPr/>
        <p:txBody>
          <a:bodyPr/>
          <a:lstStyle/>
          <a:p>
            <a:fld id="{2CCF031E-D17A-4139-B770-A41292C01C8F}" type="slidenum">
              <a:rPr lang="en-US" smtClean="0"/>
              <a:t>8</a:t>
            </a:fld>
            <a:endParaRPr lang="en-US"/>
          </a:p>
        </p:txBody>
      </p:sp>
    </p:spTree>
    <p:extLst>
      <p:ext uri="{BB962C8B-B14F-4D97-AF65-F5344CB8AC3E}">
        <p14:creationId xmlns:p14="http://schemas.microsoft.com/office/powerpoint/2010/main" val="3675656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Alan Turing was an English </a:t>
            </a:r>
            <a:r>
              <a:rPr lang="en-US" sz="1200" b="0" i="0" u="none" strike="noStrike" kern="1200" dirty="0">
                <a:solidFill>
                  <a:schemeClr val="tx1"/>
                </a:solidFill>
                <a:effectLst/>
                <a:latin typeface="+mn-lt"/>
                <a:ea typeface="+mn-ea"/>
                <a:cs typeface="+mn-cs"/>
              </a:rPr>
              <a:t>mathematician</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computer scientist</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logician</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cryptanalyst</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philosopher</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rPr>
              <a:t>theoretical biologist</a:t>
            </a:r>
            <a:r>
              <a:rPr lang="en-US" sz="1200" b="0" i="0" kern="1200" dirty="0">
                <a:solidFill>
                  <a:schemeClr val="tx1"/>
                </a:solidFill>
                <a:effectLst/>
                <a:latin typeface="+mn-lt"/>
                <a:ea typeface="+mn-ea"/>
                <a:cs typeface="+mn-cs"/>
              </a:rPr>
              <a:t>. He created the foundational concept of the modern programmable computer and is also know for designing an electromechanical machine called Bombe to decrypt the German Enigma messages during WW2. He was also treated like shit by his government.</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kern="1200" dirty="0">
                <a:solidFill>
                  <a:schemeClr val="tx1"/>
                </a:solidFill>
                <a:effectLst/>
                <a:latin typeface="+mn-lt"/>
                <a:ea typeface="+mn-ea"/>
                <a:cs typeface="+mn-cs"/>
              </a:rPr>
              <a:t>Reference: </a:t>
            </a:r>
            <a:r>
              <a:rPr lang="en-US" dirty="0"/>
              <a:t>Wikipedia. (2026, June 12). </a:t>
            </a:r>
            <a:r>
              <a:rPr lang="en-US" i="1" dirty="0"/>
              <a:t>Alan Turing</a:t>
            </a:r>
            <a:r>
              <a:rPr lang="en-US" dirty="0"/>
              <a:t>. </a:t>
            </a:r>
            <a:r>
              <a:rPr lang="en-US" dirty="0">
                <a:hlinkClick r:id="rId3"/>
              </a:rPr>
              <a:t>Alan Turing – Wikipedia</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Thought Experiment:</a:t>
            </a:r>
          </a:p>
          <a:p>
            <a:r>
              <a:rPr lang="en-US" sz="1200" b="0" i="0" kern="1200" dirty="0">
                <a:solidFill>
                  <a:schemeClr val="tx1"/>
                </a:solidFill>
                <a:effectLst/>
                <a:latin typeface="+mn-lt"/>
                <a:ea typeface="+mn-ea"/>
                <a:cs typeface="+mn-cs"/>
              </a:rPr>
              <a:t>“The new form of the problem can be described in terms of a game which we call the ‘imitation game’. It is played with three people, a man (A), a woman (B), and an interrogator (C) who may be of either sex. The interrogator stays in a room apart from the other two. The object of the game for the interrogator is to determine which of the other two is the man and which is the woman. He knows them by labels X and Y, and at the end of the game he says either ‘X is A and Y is B’ or ‘X is B and Y is A’. The interrogator is allowed to put questions to A and B…”</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now ask the question, ‘What will happen when a machine takes the part of A in this game?’ Will the interrogator decide wrongly as often when the game is played like this as he does when the game is played between a man and a woman? These questions replace our original, ‘Can machines think?’”</a:t>
            </a:r>
          </a:p>
          <a:p>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Reference: </a:t>
            </a:r>
            <a:r>
              <a:rPr lang="en-US" dirty="0"/>
              <a:t>Turing, A. M. (1950). Computing machinery and intelligence.</a:t>
            </a:r>
          </a:p>
          <a:p>
            <a:endParaRPr lang="en-US" dirty="0"/>
          </a:p>
          <a:p>
            <a:r>
              <a:rPr lang="en-US" dirty="0"/>
              <a:t>This measures linguistic output and can validate intelligent behavior.</a:t>
            </a:r>
          </a:p>
        </p:txBody>
      </p:sp>
      <p:sp>
        <p:nvSpPr>
          <p:cNvPr id="4" name="Slide Number Placeholder 3"/>
          <p:cNvSpPr>
            <a:spLocks noGrp="1"/>
          </p:cNvSpPr>
          <p:nvPr>
            <p:ph type="sldNum" sz="quarter" idx="5"/>
          </p:nvPr>
        </p:nvSpPr>
        <p:spPr/>
        <p:txBody>
          <a:bodyPr/>
          <a:lstStyle/>
          <a:p>
            <a:fld id="{2CCF031E-D17A-4139-B770-A41292C01C8F}" type="slidenum">
              <a:rPr lang="en-US" smtClean="0"/>
              <a:t>9</a:t>
            </a:fld>
            <a:endParaRPr lang="en-US"/>
          </a:p>
        </p:txBody>
      </p:sp>
    </p:spTree>
    <p:extLst>
      <p:ext uri="{BB962C8B-B14F-4D97-AF65-F5344CB8AC3E}">
        <p14:creationId xmlns:p14="http://schemas.microsoft.com/office/powerpoint/2010/main" val="3499842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John Searle was an American philosopher widely noted for contributions to the </a:t>
            </a:r>
            <a:r>
              <a:rPr lang="en-US" sz="1200" b="0" i="0" u="none" strike="noStrike" kern="1200" dirty="0">
                <a:solidFill>
                  <a:schemeClr val="tx1"/>
                </a:solidFill>
                <a:effectLst/>
                <a:latin typeface="+mn-lt"/>
                <a:ea typeface="+mn-ea"/>
                <a:cs typeface="+mn-cs"/>
              </a:rPr>
              <a:t>philosophy of language</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rPr>
              <a:t>philosophy of mind</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rPr>
              <a:t>social philosophy</a:t>
            </a:r>
            <a:r>
              <a:rPr lang="en-US" sz="1200" b="0" i="0" kern="1200" dirty="0">
                <a:solidFill>
                  <a:schemeClr val="tx1"/>
                </a:solidFill>
                <a:effectLst/>
                <a:latin typeface="+mn-lt"/>
                <a:ea typeface="+mn-ea"/>
                <a:cs typeface="+mn-cs"/>
              </a:rPr>
              <a:t>.</a:t>
            </a:r>
          </a:p>
          <a:p>
            <a:endParaRPr lang="en-US" dirty="0"/>
          </a:p>
          <a:p>
            <a:r>
              <a:rPr lang="en-US" dirty="0"/>
              <a:t>The Thought Experiment:</a:t>
            </a:r>
          </a:p>
          <a:p>
            <a:r>
              <a:rPr lang="en-US" dirty="0"/>
              <a:t>– Searle cannot understand any Chinese.</a:t>
            </a:r>
          </a:p>
          <a:p>
            <a:r>
              <a:rPr lang="en-US" dirty="0"/>
              <a:t>– He is in a room with input/output windows, and a comprehensive list of rules about manipulating Chinese characters.</a:t>
            </a:r>
          </a:p>
          <a:p>
            <a:r>
              <a:rPr lang="en-US" dirty="0"/>
              <a:t>– Chinese questions come in from the input window, Searle manipulates the characters and produces an answer by following rules, then the answers are sent out via the output window. </a:t>
            </a:r>
          </a:p>
          <a:p>
            <a:r>
              <a:rPr lang="en-US" dirty="0"/>
              <a:t>– The answers that Searle produces are very good, no one can tell that he is not a native Chinese speaker!</a:t>
            </a:r>
          </a:p>
          <a:p>
            <a:endParaRPr lang="en-US" dirty="0"/>
          </a:p>
          <a:p>
            <a:r>
              <a:rPr lang="en-US" dirty="0"/>
              <a:t>Consequences:</a:t>
            </a:r>
          </a:p>
          <a:p>
            <a:r>
              <a:rPr lang="en-US" dirty="0"/>
              <a:t>Searle’s Chinese Room passes the Turing Test. It functions like an intelligent person. But Searle does not understand the Chinese symbols in the question, the answer, or the rules, so Searle has only conducted symbol manipulation. Therefore, passing the Turing Test does not ensure understanding. In other words, although Searle’s Chinese Room functions like a mind, it is not a mind. By analogy, computers only manipulate the symbols that it interacts with (input, output, program code, data), so computers passing the Turing Test does not ensure understanding, it only demonstrates intelligent behavior.</a:t>
            </a:r>
          </a:p>
          <a:p>
            <a:endParaRPr lang="en-US" dirty="0"/>
          </a:p>
          <a:p>
            <a:r>
              <a:rPr lang="en-US" dirty="0"/>
              <a:t>Strong AI (also known as AGI): A theoretical form of machine intelligence that possesses the ability to understand, learn, and apply knowledge across any intellectual task just like a human being. So, something that doesn’t just simulate a mind but literally is a mind.</a:t>
            </a:r>
          </a:p>
          <a:p>
            <a:endParaRPr lang="en-US" dirty="0"/>
          </a:p>
          <a:p>
            <a:r>
              <a:rPr lang="en-US" dirty="0"/>
              <a:t>Searle’s Conclusion Against Strong AI: Real understanding “is a biological phenomenon” and “only something with the same causal powers as brains can have [understanding]”.</a:t>
            </a:r>
          </a:p>
          <a:p>
            <a:endParaRPr lang="en-US" dirty="0"/>
          </a:p>
          <a:p>
            <a:r>
              <a:rPr lang="en-US" i="1" dirty="0"/>
              <a:t>Reference: </a:t>
            </a:r>
            <a:r>
              <a:rPr lang="en-US" dirty="0"/>
              <a:t>Searle, J. R. (1980). Minds, brains, and programs.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measures functional output vs internal meaning proves that intelligent behavior can exist without understanding.</a:t>
            </a:r>
          </a:p>
          <a:p>
            <a:endParaRPr lang="en-US" dirty="0"/>
          </a:p>
          <a:p>
            <a:r>
              <a:rPr lang="en-US" dirty="0"/>
              <a:t>This raises the question, how does intelligent behavior emerge without understanding?</a:t>
            </a:r>
          </a:p>
          <a:p>
            <a:endParaRPr lang="en-US" dirty="0"/>
          </a:p>
        </p:txBody>
      </p:sp>
      <p:sp>
        <p:nvSpPr>
          <p:cNvPr id="4" name="Slide Number Placeholder 3"/>
          <p:cNvSpPr>
            <a:spLocks noGrp="1"/>
          </p:cNvSpPr>
          <p:nvPr>
            <p:ph type="sldNum" sz="quarter" idx="5"/>
          </p:nvPr>
        </p:nvSpPr>
        <p:spPr/>
        <p:txBody>
          <a:bodyPr/>
          <a:lstStyle/>
          <a:p>
            <a:fld id="{2CCF031E-D17A-4139-B770-A41292C01C8F}" type="slidenum">
              <a:rPr lang="en-US" smtClean="0"/>
              <a:t>10</a:t>
            </a:fld>
            <a:endParaRPr lang="en-US"/>
          </a:p>
        </p:txBody>
      </p:sp>
    </p:spTree>
    <p:extLst>
      <p:ext uri="{BB962C8B-B14F-4D97-AF65-F5344CB8AC3E}">
        <p14:creationId xmlns:p14="http://schemas.microsoft.com/office/powerpoint/2010/main" val="432677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interesting fictional test from the 1982 movie Blade Runner. This movie is set in a dystopian, cyberpunk future. The story follows Rick Deckard, a specialized police officer known as a Blade Runner. His job is to track down and "retire" (execute) </a:t>
            </a:r>
            <a:r>
              <a:rPr lang="en-US" b="0" dirty="0"/>
              <a:t>Replicants. Replicants are </a:t>
            </a:r>
            <a:r>
              <a:rPr lang="en-US" dirty="0"/>
              <a:t>bioengineered synthetic humans created by the Tyrell Corporation.</a:t>
            </a:r>
          </a:p>
          <a:p>
            <a:endParaRPr lang="en-US" dirty="0"/>
          </a:p>
          <a:p>
            <a:r>
              <a:rPr lang="en-US" b="1" dirty="0"/>
              <a:t>The Conflict:</a:t>
            </a:r>
            <a:r>
              <a:rPr lang="en-US" dirty="0"/>
              <a:t> Replicants are physically and intellectually superior to humans, built to do dangerous off-world labor. However, they are entirely illegal on Earth.</a:t>
            </a:r>
          </a:p>
          <a:p>
            <a:endParaRPr lang="en-US" dirty="0"/>
          </a:p>
          <a:p>
            <a:r>
              <a:rPr lang="en-US" b="1" dirty="0"/>
              <a:t>The Problem:</a:t>
            </a:r>
            <a:r>
              <a:rPr lang="en-US" dirty="0"/>
              <a:t> Replicants are so advanced that they develop their own emotions, memories, and a fierce desire for survival. They become virtually indistinguishable from natural-born humans, passing as human in everyday society.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measures subconscious empathy and biology. The test assumes intelligent behavior already exist and tests for emotional authenticity.</a:t>
            </a:r>
          </a:p>
          <a:p>
            <a:endParaRPr lang="en-US" dirty="0"/>
          </a:p>
          <a:p>
            <a:r>
              <a:rPr lang="en-US" dirty="0"/>
              <a:t>This raises an interesting question, </a:t>
            </a:r>
            <a:r>
              <a:rPr lang="en-US" i="0" dirty="0"/>
              <a:t>if an artificial being acts perfectly human, does it possess a soul, or is it just a sophisticated machine?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CCF031E-D17A-4139-B770-A41292C01C8F}" type="slidenum">
              <a:rPr lang="en-US" smtClean="0"/>
              <a:t>11</a:t>
            </a:fld>
            <a:endParaRPr lang="en-US"/>
          </a:p>
        </p:txBody>
      </p:sp>
    </p:spTree>
    <p:extLst>
      <p:ext uri="{BB962C8B-B14F-4D97-AF65-F5344CB8AC3E}">
        <p14:creationId xmlns:p14="http://schemas.microsoft.com/office/powerpoint/2010/main" val="2729791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of how intelligent behavior has progressed.</a:t>
            </a:r>
          </a:p>
        </p:txBody>
      </p:sp>
      <p:sp>
        <p:nvSpPr>
          <p:cNvPr id="4" name="Slide Number Placeholder 3"/>
          <p:cNvSpPr>
            <a:spLocks noGrp="1"/>
          </p:cNvSpPr>
          <p:nvPr>
            <p:ph type="sldNum" sz="quarter" idx="5"/>
          </p:nvPr>
        </p:nvSpPr>
        <p:spPr/>
        <p:txBody>
          <a:bodyPr/>
          <a:lstStyle/>
          <a:p>
            <a:fld id="{2CCF031E-D17A-4139-B770-A41292C01C8F}" type="slidenum">
              <a:rPr lang="en-US" smtClean="0"/>
              <a:t>12</a:t>
            </a:fld>
            <a:endParaRPr lang="en-US"/>
          </a:p>
        </p:txBody>
      </p:sp>
    </p:spTree>
    <p:extLst>
      <p:ext uri="{BB962C8B-B14F-4D97-AF65-F5344CB8AC3E}">
        <p14:creationId xmlns:p14="http://schemas.microsoft.com/office/powerpoint/2010/main" val="1661532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a:t>
            </a:r>
          </a:p>
        </p:txBody>
      </p:sp>
      <p:sp>
        <p:nvSpPr>
          <p:cNvPr id="4" name="Slide Number Placeholder 3"/>
          <p:cNvSpPr>
            <a:spLocks noGrp="1"/>
          </p:cNvSpPr>
          <p:nvPr>
            <p:ph type="sldNum" sz="quarter" idx="5"/>
          </p:nvPr>
        </p:nvSpPr>
        <p:spPr/>
        <p:txBody>
          <a:bodyPr/>
          <a:lstStyle/>
          <a:p>
            <a:fld id="{2CCF031E-D17A-4139-B770-A41292C01C8F}" type="slidenum">
              <a:rPr lang="en-US" smtClean="0"/>
              <a:t>13</a:t>
            </a:fld>
            <a:endParaRPr lang="en-US"/>
          </a:p>
        </p:txBody>
      </p:sp>
    </p:spTree>
    <p:extLst>
      <p:ext uri="{BB962C8B-B14F-4D97-AF65-F5344CB8AC3E}">
        <p14:creationId xmlns:p14="http://schemas.microsoft.com/office/powerpoint/2010/main" val="3150753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002" y="105879"/>
            <a:ext cx="6933398" cy="3832346"/>
          </a:xfrm>
        </p:spPr>
        <p:txBody>
          <a:bodyPr vert="horz" lIns="91440" tIns="45720" rIns="91440" bIns="45720" rtlCol="0" anchor="t">
            <a:normAutofit/>
          </a:bodyPr>
          <a:lstStyle>
            <a:lvl1pPr>
              <a:lnSpc>
                <a:spcPct val="90000"/>
              </a:lnSpc>
              <a:defRPr lang="en-US" sz="6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37892"/>
            <a:ext cx="4184904" cy="91801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3" name="Freeform: Shape 12">
            <a:extLst>
              <a:ext uri="{FF2B5EF4-FFF2-40B4-BE49-F238E27FC236}">
                <a16:creationId xmlns:a16="http://schemas.microsoft.com/office/drawing/2014/main" id="{B7D523F3-FDC7-CB09-72C3-675307026069}"/>
              </a:ext>
              <a:ext uri="{C183D7F6-B498-43B3-948B-1728B52AA6E4}">
                <adec:decorative xmlns:adec="http://schemas.microsoft.com/office/drawing/2017/decorative" val="1"/>
              </a:ext>
            </a:extLst>
          </p:cNvPr>
          <p:cNvSpPr/>
          <p:nvPr/>
        </p:nvSpPr>
        <p:spPr>
          <a:xfrm>
            <a:off x="7693152" y="0"/>
            <a:ext cx="4498848" cy="6089904"/>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10">
            <a:extLst>
              <a:ext uri="{FF2B5EF4-FFF2-40B4-BE49-F238E27FC236}">
                <a16:creationId xmlns:a16="http://schemas.microsoft.com/office/drawing/2014/main" id="{47046596-FFEC-0663-2F9B-19F442C8D1F7}"/>
              </a:ext>
            </a:extLst>
          </p:cNvPr>
          <p:cNvSpPr>
            <a:spLocks noGrp="1"/>
          </p:cNvSpPr>
          <p:nvPr>
            <p:ph type="pic" sz="quarter" idx="13" hasCustomPrompt="1"/>
          </p:nvPr>
        </p:nvSpPr>
        <p:spPr>
          <a:xfrm>
            <a:off x="7681816" y="0"/>
            <a:ext cx="4510185" cy="6096000"/>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9971339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10706100" cy="68391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74654" y="1506872"/>
            <a:ext cx="10693446" cy="4665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4539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3860" y="1376413"/>
            <a:ext cx="3834793" cy="2697480"/>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3860" y="4073893"/>
            <a:ext cx="3599210" cy="1162250"/>
          </a:xfrm>
        </p:spPr>
        <p:txBody>
          <a:bodyPr vert="horz" lIns="91440" tIns="45720" rIns="91440" bIns="45720" rtlCol="0" anchor="ctr">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8" name="Picture Placeholder 10">
            <a:extLst>
              <a:ext uri="{FF2B5EF4-FFF2-40B4-BE49-F238E27FC236}">
                <a16:creationId xmlns:a16="http://schemas.microsoft.com/office/drawing/2014/main" id="{51CC2D7F-4DE5-3D21-470F-8B959A5C44D8}"/>
              </a:ext>
            </a:extLst>
          </p:cNvPr>
          <p:cNvSpPr>
            <a:spLocks noGrp="1"/>
          </p:cNvSpPr>
          <p:nvPr>
            <p:ph type="pic" sz="quarter" idx="13" hasCustomPrompt="1"/>
          </p:nvPr>
        </p:nvSpPr>
        <p:spPr>
          <a:xfrm>
            <a:off x="0" y="0"/>
            <a:ext cx="7274402" cy="609600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9865566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093" y="190500"/>
            <a:ext cx="3923894" cy="2673696"/>
          </a:xfrm>
        </p:spPr>
        <p:txBody>
          <a:bodyPr vert="horz" lIns="91440" tIns="45720" rIns="91440" bIns="45720" rtlCol="0" anchor="t">
            <a:normAutofit/>
          </a:bodyPr>
          <a:lstStyle>
            <a:lvl1pPr>
              <a:lnSpc>
                <a:spcPct val="95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73751"/>
            <a:ext cx="3277380" cy="122894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8" name="Picture Placeholder 7">
            <a:extLst>
              <a:ext uri="{FF2B5EF4-FFF2-40B4-BE49-F238E27FC236}">
                <a16:creationId xmlns:a16="http://schemas.microsoft.com/office/drawing/2014/main" id="{1E33A8AF-9A38-4027-A746-F135FF75F2EF}"/>
              </a:ext>
            </a:extLst>
          </p:cNvPr>
          <p:cNvSpPr>
            <a:spLocks noGrp="1"/>
          </p:cNvSpPr>
          <p:nvPr>
            <p:ph type="pic" sz="quarter" idx="13" hasCustomPrompt="1"/>
          </p:nvPr>
        </p:nvSpPr>
        <p:spPr>
          <a:xfrm>
            <a:off x="4743585" y="0"/>
            <a:ext cx="7448415" cy="6093762"/>
          </a:xfrm>
          <a:custGeom>
            <a:avLst/>
            <a:gdLst>
              <a:gd name="connsiteX0" fmla="*/ 0 w 7448415"/>
              <a:gd name="connsiteY0" fmla="*/ 0 h 6093762"/>
              <a:gd name="connsiteX1" fmla="*/ 7448415 w 7448415"/>
              <a:gd name="connsiteY1" fmla="*/ 0 h 6093762"/>
              <a:gd name="connsiteX2" fmla="*/ 7448415 w 7448415"/>
              <a:gd name="connsiteY2" fmla="*/ 6093762 h 6093762"/>
              <a:gd name="connsiteX3" fmla="*/ 501521 w 7448415"/>
              <a:gd name="connsiteY3" fmla="*/ 6093762 h 6093762"/>
              <a:gd name="connsiteX4" fmla="*/ 0 w 7448415"/>
              <a:gd name="connsiteY4" fmla="*/ 5592240 h 609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8415" h="6093762">
                <a:moveTo>
                  <a:pt x="0" y="0"/>
                </a:moveTo>
                <a:lnTo>
                  <a:pt x="7448415" y="0"/>
                </a:lnTo>
                <a:lnTo>
                  <a:pt x="7448415" y="6093762"/>
                </a:lnTo>
                <a:lnTo>
                  <a:pt x="501521" y="6093762"/>
                </a:lnTo>
                <a:cubicBezTo>
                  <a:pt x="224538" y="6093762"/>
                  <a:pt x="0" y="5869223"/>
                  <a:pt x="0" y="5592240"/>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2000" y="6329172"/>
            <a:ext cx="2816835"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5136934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02936"/>
            <a:ext cx="10858500" cy="850392"/>
          </a:xfrm>
        </p:spPr>
        <p:txBody>
          <a:bodyPr vert="horz" lIns="91440" tIns="45720" rIns="91440" bIns="45720" rtlCol="0" anchor="b">
            <a:normAutofit/>
          </a:bodyPr>
          <a:lstStyle>
            <a:lvl1pPr>
              <a:lnSpc>
                <a:spcPct val="90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80176"/>
            <a:ext cx="10858500" cy="419100"/>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9" name="Picture Placeholder 7">
            <a:extLst>
              <a:ext uri="{FF2B5EF4-FFF2-40B4-BE49-F238E27FC236}">
                <a16:creationId xmlns:a16="http://schemas.microsoft.com/office/drawing/2014/main" id="{5E742D34-DBD4-0DEA-071F-32C82E7EB45A}"/>
              </a:ext>
            </a:extLst>
          </p:cNvPr>
          <p:cNvSpPr>
            <a:spLocks noGrp="1"/>
          </p:cNvSpPr>
          <p:nvPr>
            <p:ph type="pic" sz="quarter" idx="13" hasCustomPrompt="1"/>
          </p:nvPr>
        </p:nvSpPr>
        <p:spPr>
          <a:xfrm>
            <a:off x="0" y="0"/>
            <a:ext cx="11468100" cy="5018448"/>
          </a:xfrm>
          <a:custGeom>
            <a:avLst/>
            <a:gdLst>
              <a:gd name="connsiteX0" fmla="*/ 0 w 11468100"/>
              <a:gd name="connsiteY0" fmla="*/ 0 h 5091600"/>
              <a:gd name="connsiteX1" fmla="*/ 11468100 w 11468100"/>
              <a:gd name="connsiteY1" fmla="*/ 0 h 5091600"/>
              <a:gd name="connsiteX2" fmla="*/ 11468100 w 11468100"/>
              <a:gd name="connsiteY2" fmla="*/ 4590078 h 5091600"/>
              <a:gd name="connsiteX3" fmla="*/ 10966578 w 11468100"/>
              <a:gd name="connsiteY3" fmla="*/ 5091600 h 5091600"/>
              <a:gd name="connsiteX4" fmla="*/ 0 w 11468100"/>
              <a:gd name="connsiteY4" fmla="*/ 5091600 h 509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5091600">
                <a:moveTo>
                  <a:pt x="0" y="0"/>
                </a:moveTo>
                <a:lnTo>
                  <a:pt x="11468100" y="0"/>
                </a:lnTo>
                <a:lnTo>
                  <a:pt x="11468100" y="4590078"/>
                </a:lnTo>
                <a:cubicBezTo>
                  <a:pt x="11468100" y="4867061"/>
                  <a:pt x="11243561" y="5091600"/>
                  <a:pt x="10966578" y="5091600"/>
                </a:cubicBezTo>
                <a:lnTo>
                  <a:pt x="0" y="50916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 y="6629400"/>
            <a:ext cx="2805405" cy="228600"/>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11240" y="6629400"/>
            <a:ext cx="2376928" cy="228600"/>
          </a:xfrm>
        </p:spPr>
        <p:txBody>
          <a:bodyPr/>
          <a:lstStyle>
            <a:lvl1pPr>
              <a:defRPr>
                <a:solidFill>
                  <a:schemeClr val="tx2"/>
                </a:solidFill>
                <a:effectLst/>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3193" y="6629400"/>
            <a:ext cx="429207" cy="228600"/>
          </a:xfrm>
        </p:spPr>
        <p:txBody>
          <a:bodyPr/>
          <a:lstStyle>
            <a:lvl1pPr>
              <a:defRPr>
                <a:solidFill>
                  <a:schemeClr val="tx2"/>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6236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2345" y="250257"/>
            <a:ext cx="9692640" cy="4602845"/>
          </a:xfrm>
        </p:spPr>
        <p:txBody>
          <a:bodyPr vert="horz" lIns="91440" tIns="45720" rIns="91440" bIns="45720" rtlCol="0" anchor="t">
            <a:normAutofit/>
          </a:bodyPr>
          <a:lstStyle>
            <a:lvl1pPr>
              <a:lnSpc>
                <a:spcPct val="90000"/>
              </a:lnSpc>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1999" y="5053094"/>
            <a:ext cx="5253789" cy="847192"/>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8587493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60321" y="1904300"/>
            <a:ext cx="7084194" cy="2353755"/>
          </a:xfrm>
        </p:spPr>
        <p:txBody>
          <a:bodyPr anchor="ctr">
            <a:normAutofit/>
          </a:bodyPr>
          <a:lstStyle>
            <a:lvl1pPr algn="ctr">
              <a:lnSpc>
                <a:spcPct val="80000"/>
              </a:lnSpc>
              <a:defRPr sz="60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262965" y="4597167"/>
            <a:ext cx="5678905" cy="1082180"/>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4741724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 y="131670"/>
            <a:ext cx="12120283" cy="5093208"/>
          </a:xfrm>
        </p:spPr>
        <p:txBody>
          <a:bodyPr vert="horz" lIns="91440" tIns="45720" rIns="91440" bIns="45720" rtlCol="0" anchor="t">
            <a:normAutofit/>
          </a:bodyPr>
          <a:lstStyle>
            <a:lvl1pPr>
              <a:lnSpc>
                <a:spcPct val="85000"/>
              </a:lnSpc>
              <a:defRPr lang="en-US" sz="12500" spc="-5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5356548"/>
            <a:ext cx="6414887" cy="748417"/>
          </a:xfrm>
        </p:spPr>
        <p:txBody>
          <a:bodyPr vert="horz" lIns="91440" tIns="45720" rIns="91440" bIns="45720" rtlCol="0" anchor="ctr">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5566482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783116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2D3B99D-E6B2-4EE8-0A54-0FAA367757A0}"/>
              </a:ext>
              <a:ext uri="{C183D7F6-B498-43B3-948B-1728B52AA6E4}">
                <adec:decorative xmlns:adec="http://schemas.microsoft.com/office/drawing/2017/decorative" val="1"/>
              </a:ext>
            </a:extLst>
          </p:cNvPr>
          <p:cNvSpPr/>
          <p:nvPr/>
        </p:nvSpPr>
        <p:spPr>
          <a:xfrm>
            <a:off x="3735581" y="2721090"/>
            <a:ext cx="8456418" cy="4136911"/>
          </a:xfrm>
          <a:custGeom>
            <a:avLst/>
            <a:gdLst>
              <a:gd name="connsiteX0" fmla="*/ 501522 w 8456418"/>
              <a:gd name="connsiteY0" fmla="*/ 0 h 4136911"/>
              <a:gd name="connsiteX1" fmla="*/ 7315160 w 8456418"/>
              <a:gd name="connsiteY1" fmla="*/ 0 h 4136911"/>
              <a:gd name="connsiteX2" fmla="*/ 7389577 w 8456418"/>
              <a:gd name="connsiteY2" fmla="*/ 0 h 4136911"/>
              <a:gd name="connsiteX3" fmla="*/ 8456418 w 8456418"/>
              <a:gd name="connsiteY3" fmla="*/ 0 h 4136911"/>
              <a:gd name="connsiteX4" fmla="*/ 8456418 w 8456418"/>
              <a:gd name="connsiteY4" fmla="*/ 4136910 h 4136911"/>
              <a:gd name="connsiteX5" fmla="*/ 7389577 w 8456418"/>
              <a:gd name="connsiteY5" fmla="*/ 4136910 h 4136911"/>
              <a:gd name="connsiteX6" fmla="*/ 7389577 w 8456418"/>
              <a:gd name="connsiteY6" fmla="*/ 4136911 h 4136911"/>
              <a:gd name="connsiteX7" fmla="*/ 0 w 8456418"/>
              <a:gd name="connsiteY7" fmla="*/ 4136911 h 4136911"/>
              <a:gd name="connsiteX8" fmla="*/ 0 w 8456418"/>
              <a:gd name="connsiteY8" fmla="*/ 501522 h 4136911"/>
              <a:gd name="connsiteX9" fmla="*/ 501522 w 8456418"/>
              <a:gd name="connsiteY9" fmla="*/ 0 h 413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56418" h="4136911">
                <a:moveTo>
                  <a:pt x="501522" y="0"/>
                </a:moveTo>
                <a:lnTo>
                  <a:pt x="7315160" y="0"/>
                </a:lnTo>
                <a:lnTo>
                  <a:pt x="7389577" y="0"/>
                </a:lnTo>
                <a:lnTo>
                  <a:pt x="8456418" y="0"/>
                </a:lnTo>
                <a:lnTo>
                  <a:pt x="8456418" y="4136910"/>
                </a:lnTo>
                <a:lnTo>
                  <a:pt x="7389577" y="4136910"/>
                </a:lnTo>
                <a:lnTo>
                  <a:pt x="7389577" y="4136911"/>
                </a:lnTo>
                <a:lnTo>
                  <a:pt x="0" y="4136911"/>
                </a:lnTo>
                <a:lnTo>
                  <a:pt x="0" y="501522"/>
                </a:lnTo>
                <a:cubicBezTo>
                  <a:pt x="0" y="224539"/>
                  <a:pt x="224538" y="0"/>
                  <a:pt x="50152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38499" y="134751"/>
            <a:ext cx="11429601" cy="2213814"/>
          </a:xfrm>
        </p:spPr>
        <p:txBody>
          <a:bodyPr anchor="t">
            <a:normAutofit/>
          </a:bodyPr>
          <a:lstStyle>
            <a:lvl1pPr>
              <a:lnSpc>
                <a:spcPct val="80000"/>
              </a:lnSpc>
              <a:defRPr sz="9000">
                <a:solidFill>
                  <a:schemeClr val="accent1"/>
                </a:solidFill>
              </a:defRPr>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67200" y="3124200"/>
            <a:ext cx="7200900" cy="2971800"/>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75292546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141316" y="154198"/>
            <a:ext cx="11326784" cy="1770855"/>
          </a:xfrm>
        </p:spPr>
        <p:txBody>
          <a:bodyPr anchor="t">
            <a:noAutofit/>
          </a:bodyPr>
          <a:lstStyle>
            <a:lvl1pPr>
              <a:lnSpc>
                <a:spcPct val="80000"/>
              </a:lnSpc>
              <a:defRPr sz="8800">
                <a:solidFill>
                  <a:schemeClr val="accent1"/>
                </a:solidFill>
              </a:defRPr>
            </a:lvl1pPr>
          </a:lstStyle>
          <a:p>
            <a:r>
              <a:rPr lang="en-US" dirty="0"/>
              <a:t>Agenda</a:t>
            </a:r>
          </a:p>
        </p:txBody>
      </p:sp>
      <p:sp>
        <p:nvSpPr>
          <p:cNvPr id="16" name="Picture Placeholder 15">
            <a:extLst>
              <a:ext uri="{FF2B5EF4-FFF2-40B4-BE49-F238E27FC236}">
                <a16:creationId xmlns:a16="http://schemas.microsoft.com/office/drawing/2014/main" id="{DFF180EE-9609-8056-7D1A-0AB8C9676916}"/>
              </a:ext>
            </a:extLst>
          </p:cNvPr>
          <p:cNvSpPr>
            <a:spLocks noGrp="1"/>
          </p:cNvSpPr>
          <p:nvPr>
            <p:ph type="pic" sz="quarter" idx="15" hasCustomPrompt="1"/>
          </p:nvPr>
        </p:nvSpPr>
        <p:spPr>
          <a:xfrm>
            <a:off x="0" y="2266752"/>
            <a:ext cx="6871018" cy="4591248"/>
          </a:xfrm>
          <a:custGeom>
            <a:avLst/>
            <a:gdLst>
              <a:gd name="connsiteX0" fmla="*/ 0 w 6871018"/>
              <a:gd name="connsiteY0" fmla="*/ 0 h 4591248"/>
              <a:gd name="connsiteX1" fmla="*/ 6369496 w 6871018"/>
              <a:gd name="connsiteY1" fmla="*/ 0 h 4591248"/>
              <a:gd name="connsiteX2" fmla="*/ 6871018 w 6871018"/>
              <a:gd name="connsiteY2" fmla="*/ 501522 h 4591248"/>
              <a:gd name="connsiteX3" fmla="*/ 6871018 w 6871018"/>
              <a:gd name="connsiteY3" fmla="*/ 4591248 h 4591248"/>
              <a:gd name="connsiteX4" fmla="*/ 0 w 6871018"/>
              <a:gd name="connsiteY4" fmla="*/ 4591248 h 459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1018" h="4591248">
                <a:moveTo>
                  <a:pt x="0" y="0"/>
                </a:moveTo>
                <a:lnTo>
                  <a:pt x="6369496" y="0"/>
                </a:lnTo>
                <a:cubicBezTo>
                  <a:pt x="6646479" y="0"/>
                  <a:pt x="6871018" y="224539"/>
                  <a:pt x="6871018" y="501522"/>
                </a:cubicBezTo>
                <a:lnTo>
                  <a:pt x="6871018" y="4591248"/>
                </a:lnTo>
                <a:lnTo>
                  <a:pt x="0" y="4591248"/>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10" name="Freeform: Shape 9">
            <a:extLst>
              <a:ext uri="{FF2B5EF4-FFF2-40B4-BE49-F238E27FC236}">
                <a16:creationId xmlns:a16="http://schemas.microsoft.com/office/drawing/2014/main" id="{0ED03D8A-5554-BC86-D031-989A4FC017F9}"/>
              </a:ext>
              <a:ext uri="{C183D7F6-B498-43B3-948B-1728B52AA6E4}">
                <adec:decorative xmlns:adec="http://schemas.microsoft.com/office/drawing/2017/decorative" val="1"/>
              </a:ext>
            </a:extLst>
          </p:cNvPr>
          <p:cNvSpPr/>
          <p:nvPr/>
        </p:nvSpPr>
        <p:spPr>
          <a:xfrm>
            <a:off x="7084170" y="2266752"/>
            <a:ext cx="5107831" cy="4591248"/>
          </a:xfrm>
          <a:custGeom>
            <a:avLst/>
            <a:gdLst>
              <a:gd name="connsiteX0" fmla="*/ 501521 w 5107831"/>
              <a:gd name="connsiteY0" fmla="*/ 0 h 4591248"/>
              <a:gd name="connsiteX1" fmla="*/ 5107831 w 5107831"/>
              <a:gd name="connsiteY1" fmla="*/ 0 h 4591248"/>
              <a:gd name="connsiteX2" fmla="*/ 5107831 w 5107831"/>
              <a:gd name="connsiteY2" fmla="*/ 4591248 h 4591248"/>
              <a:gd name="connsiteX3" fmla="*/ 0 w 5107831"/>
              <a:gd name="connsiteY3" fmla="*/ 4591248 h 4591248"/>
              <a:gd name="connsiteX4" fmla="*/ 0 w 5107831"/>
              <a:gd name="connsiteY4" fmla="*/ 501522 h 4591248"/>
              <a:gd name="connsiteX5" fmla="*/ 501521 w 5107831"/>
              <a:gd name="connsiteY5" fmla="*/ 0 h 459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7831" h="4591248">
                <a:moveTo>
                  <a:pt x="501521" y="0"/>
                </a:moveTo>
                <a:lnTo>
                  <a:pt x="5107831" y="0"/>
                </a:lnTo>
                <a:lnTo>
                  <a:pt x="5107831" y="4591248"/>
                </a:lnTo>
                <a:lnTo>
                  <a:pt x="0" y="4591248"/>
                </a:lnTo>
                <a:lnTo>
                  <a:pt x="0" y="501522"/>
                </a:lnTo>
                <a:cubicBezTo>
                  <a:pt x="0" y="224539"/>
                  <a:pt x="224538" y="0"/>
                  <a:pt x="50152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597833" y="2762450"/>
            <a:ext cx="3870267" cy="3333549"/>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97833" y="6329172"/>
            <a:ext cx="2020539"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498169" y="6329172"/>
            <a:ext cx="1405916"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9391815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208428" y="5434066"/>
            <a:ext cx="11259672" cy="1340631"/>
          </a:xfrm>
        </p:spPr>
        <p:txBody>
          <a:bodyPr anchor="ctr">
            <a:noAutofit/>
          </a:bodyPr>
          <a:lstStyle>
            <a:lvl1pPr>
              <a:lnSpc>
                <a:spcPct val="80000"/>
              </a:lnSpc>
              <a:defRPr sz="9200">
                <a:solidFill>
                  <a:schemeClr val="accent1"/>
                </a:solidFill>
              </a:defRPr>
            </a:lvl1pPr>
          </a:lstStyle>
          <a:p>
            <a:r>
              <a:rPr lang="en-US" dirty="0"/>
              <a:t>Agenda</a:t>
            </a:r>
          </a:p>
        </p:txBody>
      </p:sp>
      <p:sp>
        <p:nvSpPr>
          <p:cNvPr id="4" name="Picture Placeholder 3">
            <a:extLst>
              <a:ext uri="{FF2B5EF4-FFF2-40B4-BE49-F238E27FC236}">
                <a16:creationId xmlns:a16="http://schemas.microsoft.com/office/drawing/2014/main" id="{9A527762-C88B-23BA-9A3F-621F88C685CC}"/>
              </a:ext>
            </a:extLst>
          </p:cNvPr>
          <p:cNvSpPr>
            <a:spLocks noGrp="1"/>
          </p:cNvSpPr>
          <p:nvPr>
            <p:ph type="pic" sz="quarter" idx="15" hasCustomPrompt="1"/>
          </p:nvPr>
        </p:nvSpPr>
        <p:spPr>
          <a:xfrm>
            <a:off x="0" y="1"/>
            <a:ext cx="7075656" cy="5017475"/>
          </a:xfrm>
          <a:custGeom>
            <a:avLst/>
            <a:gdLst>
              <a:gd name="connsiteX0" fmla="*/ 0 w 7075656"/>
              <a:gd name="connsiteY0" fmla="*/ 0 h 5017475"/>
              <a:gd name="connsiteX1" fmla="*/ 7075656 w 7075656"/>
              <a:gd name="connsiteY1" fmla="*/ 0 h 5017475"/>
              <a:gd name="connsiteX2" fmla="*/ 7075656 w 7075656"/>
              <a:gd name="connsiteY2" fmla="*/ 4515953 h 5017475"/>
              <a:gd name="connsiteX3" fmla="*/ 6574134 w 7075656"/>
              <a:gd name="connsiteY3" fmla="*/ 5017475 h 5017475"/>
              <a:gd name="connsiteX4" fmla="*/ 0 w 7075656"/>
              <a:gd name="connsiteY4" fmla="*/ 5017475 h 501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656" h="5017475">
                <a:moveTo>
                  <a:pt x="0" y="0"/>
                </a:moveTo>
                <a:lnTo>
                  <a:pt x="7075656" y="0"/>
                </a:lnTo>
                <a:lnTo>
                  <a:pt x="7075656" y="4515953"/>
                </a:lnTo>
                <a:cubicBezTo>
                  <a:pt x="7075656" y="4792936"/>
                  <a:pt x="6851117" y="5017475"/>
                  <a:pt x="6574134" y="5017475"/>
                </a:cubicBezTo>
                <a:lnTo>
                  <a:pt x="0" y="5017475"/>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701094" y="791110"/>
            <a:ext cx="3767006" cy="4226366"/>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01094" y="190984"/>
            <a:ext cx="2713574"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829799" y="190984"/>
            <a:ext cx="1074285"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190984"/>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68612727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89871" y="1717296"/>
            <a:ext cx="5618603" cy="1189805"/>
          </a:xfrm>
        </p:spPr>
        <p:txBody>
          <a:bodyPr anchor="b">
            <a:normAutofit/>
          </a:bodyPr>
          <a:lstStyle>
            <a:lvl1pPr algn="ct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4734" y="3138477"/>
            <a:ext cx="4428877" cy="2116570"/>
          </a:xfrm>
        </p:spPr>
        <p:txBody>
          <a:bodyPr vert="horz" lIns="91440" tIns="45720" rIns="91440" bIns="45720" rtlCol="0">
            <a:normAutofit/>
          </a:bodyPr>
          <a:lstStyle>
            <a:lvl1pPr marL="0" indent="0" algn="ctr">
              <a:buNone/>
              <a:defRPr lang="en-US" sz="1400" dirty="0"/>
            </a:lvl1pPr>
            <a:lvl2pPr marL="228600" indent="0" algn="ctr">
              <a:buNone/>
              <a:defRPr lang="en-US" sz="1200" dirty="0"/>
            </a:lvl2pPr>
            <a:lvl3pPr marL="457200" indent="0" algn="ctr">
              <a:buNone/>
              <a:defRPr lang="en-US" sz="1100" dirty="0"/>
            </a:lvl3pPr>
            <a:lvl4pPr marL="685800" indent="0" algn="ctr">
              <a:buNone/>
              <a:defRPr lang="en-US" sz="1100" dirty="0"/>
            </a:lvl4pPr>
            <a:lvl5pPr marL="914400" indent="0" algn="ctr">
              <a:buNone/>
              <a:defRPr lang="en-US"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41269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39160" y="1993392"/>
            <a:ext cx="3097924" cy="216035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39103" y="1993392"/>
            <a:ext cx="4856097" cy="35387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655604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42625" y="1508760"/>
            <a:ext cx="3390442" cy="2857500"/>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57596" y="1508760"/>
            <a:ext cx="5233669" cy="413187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79564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19200" y="1097280"/>
            <a:ext cx="3205908" cy="3428174"/>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46320" y="1098484"/>
            <a:ext cx="6126480" cy="507371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2955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3367238" cy="203120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998" y="822960"/>
            <a:ext cx="7087401" cy="534924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009174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0520" y="822960"/>
            <a:ext cx="7305005" cy="972657"/>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1613FF0-3917-A83C-848B-3D1932393483}"/>
              </a:ext>
            </a:extLst>
          </p:cNvPr>
          <p:cNvSpPr>
            <a:spLocks noGrp="1"/>
          </p:cNvSpPr>
          <p:nvPr>
            <p:ph type="pic" sz="quarter" idx="15" hasCustomPrompt="1"/>
          </p:nvPr>
        </p:nvSpPr>
        <p:spPr>
          <a:xfrm>
            <a:off x="0" y="0"/>
            <a:ext cx="3493008" cy="6107204"/>
          </a:xfrm>
          <a:custGeom>
            <a:avLst/>
            <a:gdLst>
              <a:gd name="connsiteX0" fmla="*/ 0 w 3493008"/>
              <a:gd name="connsiteY0" fmla="*/ 0 h 6107204"/>
              <a:gd name="connsiteX1" fmla="*/ 3493008 w 3493008"/>
              <a:gd name="connsiteY1" fmla="*/ 0 h 6107204"/>
              <a:gd name="connsiteX2" fmla="*/ 3493008 w 3493008"/>
              <a:gd name="connsiteY2" fmla="*/ 5602161 h 6107204"/>
              <a:gd name="connsiteX3" fmla="*/ 2991486 w 3493008"/>
              <a:gd name="connsiteY3" fmla="*/ 6107204 h 6107204"/>
              <a:gd name="connsiteX4" fmla="*/ 0 w 3493008"/>
              <a:gd name="connsiteY4" fmla="*/ 6107204 h 610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3008" h="6107204">
                <a:moveTo>
                  <a:pt x="0" y="0"/>
                </a:moveTo>
                <a:lnTo>
                  <a:pt x="3493008" y="0"/>
                </a:lnTo>
                <a:lnTo>
                  <a:pt x="3493008" y="5602161"/>
                </a:lnTo>
                <a:cubicBezTo>
                  <a:pt x="3493008" y="5881089"/>
                  <a:pt x="3268469" y="6107204"/>
                  <a:pt x="2991486" y="6107204"/>
                </a:cubicBezTo>
                <a:lnTo>
                  <a:pt x="0" y="61072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095" y="1993392"/>
            <a:ext cx="7305005" cy="41208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3282902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7196328" cy="106832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996440"/>
            <a:ext cx="719632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2090" y="6329172"/>
            <a:ext cx="2816835"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974104" y="6329172"/>
            <a:ext cx="2660904"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809836"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8698986" y="758460"/>
            <a:ext cx="3493014"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86051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478799" y="374904"/>
            <a:ext cx="8029143" cy="9144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640F6D4C-AB58-61E2-820C-26713F7162B4}"/>
              </a:ext>
            </a:extLst>
          </p:cNvPr>
          <p:cNvSpPr>
            <a:spLocks noGrp="1"/>
          </p:cNvSpPr>
          <p:nvPr>
            <p:ph type="pic" sz="quarter" idx="15" hasCustomPrompt="1"/>
          </p:nvPr>
        </p:nvSpPr>
        <p:spPr>
          <a:xfrm>
            <a:off x="1" y="0"/>
            <a:ext cx="2812577" cy="6096000"/>
          </a:xfrm>
          <a:custGeom>
            <a:avLst/>
            <a:gdLst>
              <a:gd name="connsiteX0" fmla="*/ 0 w 2812577"/>
              <a:gd name="connsiteY0" fmla="*/ 0 h 6096000"/>
              <a:gd name="connsiteX1" fmla="*/ 2812577 w 2812577"/>
              <a:gd name="connsiteY1" fmla="*/ 0 h 6096000"/>
              <a:gd name="connsiteX2" fmla="*/ 2812577 w 2812577"/>
              <a:gd name="connsiteY2" fmla="*/ 5594478 h 6096000"/>
              <a:gd name="connsiteX3" fmla="*/ 2311055 w 2812577"/>
              <a:gd name="connsiteY3" fmla="*/ 6096000 h 6096000"/>
              <a:gd name="connsiteX4" fmla="*/ 0 w 2812577"/>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5594478"/>
                </a:lnTo>
                <a:cubicBezTo>
                  <a:pt x="2812577" y="5871461"/>
                  <a:pt x="2588038" y="6096000"/>
                  <a:pt x="2311055" y="6096000"/>
                </a:cubicBezTo>
                <a:lnTo>
                  <a:pt x="0" y="6096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478798" y="1444752"/>
            <a:ext cx="8029144"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478799"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12432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365760"/>
            <a:ext cx="7935953" cy="9144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444752"/>
            <a:ext cx="7935953"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365D02ED-881B-AC26-9FB1-E0C7AC5229CD}"/>
              </a:ext>
            </a:extLst>
          </p:cNvPr>
          <p:cNvSpPr>
            <a:spLocks noGrp="1"/>
          </p:cNvSpPr>
          <p:nvPr>
            <p:ph type="pic" sz="quarter" idx="15" hasCustomPrompt="1"/>
          </p:nvPr>
        </p:nvSpPr>
        <p:spPr>
          <a:xfrm>
            <a:off x="9379423" y="0"/>
            <a:ext cx="2812577" cy="6096000"/>
          </a:xfrm>
          <a:custGeom>
            <a:avLst/>
            <a:gdLst>
              <a:gd name="connsiteX0" fmla="*/ 0 w 2812577"/>
              <a:gd name="connsiteY0" fmla="*/ 0 h 6096000"/>
              <a:gd name="connsiteX1" fmla="*/ 2812577 w 2812577"/>
              <a:gd name="connsiteY1" fmla="*/ 0 h 6096000"/>
              <a:gd name="connsiteX2" fmla="*/ 2812577 w 2812577"/>
              <a:gd name="connsiteY2" fmla="*/ 6096000 h 6096000"/>
              <a:gd name="connsiteX3" fmla="*/ 501522 w 2812577"/>
              <a:gd name="connsiteY3" fmla="*/ 6096000 h 6096000"/>
              <a:gd name="connsiteX4" fmla="*/ 0 w 281257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6096000"/>
                </a:lnTo>
                <a:lnTo>
                  <a:pt x="501522" y="6096000"/>
                </a:lnTo>
                <a:cubicBezTo>
                  <a:pt x="224539" y="6096000"/>
                  <a:pt x="0" y="5871461"/>
                  <a:pt x="0" y="5594478"/>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52392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1301" y="822960"/>
            <a:ext cx="5986799" cy="109210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3253D553-C5F3-3129-9E70-5FFBFDC9ECE7}"/>
              </a:ext>
            </a:extLst>
          </p:cNvPr>
          <p:cNvSpPr>
            <a:spLocks noGrp="1"/>
          </p:cNvSpPr>
          <p:nvPr>
            <p:ph type="pic" sz="quarter" idx="15" hasCustomPrompt="1"/>
          </p:nvPr>
        </p:nvSpPr>
        <p:spPr>
          <a:xfrm>
            <a:off x="0" y="0"/>
            <a:ext cx="4785141" cy="6096000"/>
          </a:xfrm>
          <a:custGeom>
            <a:avLst/>
            <a:gdLst>
              <a:gd name="connsiteX0" fmla="*/ 0 w 4785141"/>
              <a:gd name="connsiteY0" fmla="*/ 0 h 6096000"/>
              <a:gd name="connsiteX1" fmla="*/ 4785141 w 4785141"/>
              <a:gd name="connsiteY1" fmla="*/ 0 h 6096000"/>
              <a:gd name="connsiteX2" fmla="*/ 4785141 w 4785141"/>
              <a:gd name="connsiteY2" fmla="*/ 5594478 h 6096000"/>
              <a:gd name="connsiteX3" fmla="*/ 4283619 w 4785141"/>
              <a:gd name="connsiteY3" fmla="*/ 6096000 h 6096000"/>
              <a:gd name="connsiteX4" fmla="*/ 0 w 4785141"/>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141" h="6096000">
                <a:moveTo>
                  <a:pt x="0" y="0"/>
                </a:moveTo>
                <a:lnTo>
                  <a:pt x="4785141" y="0"/>
                </a:lnTo>
                <a:lnTo>
                  <a:pt x="4785141" y="5594478"/>
                </a:lnTo>
                <a:cubicBezTo>
                  <a:pt x="4785141" y="5871461"/>
                  <a:pt x="4560602" y="6096000"/>
                  <a:pt x="4283619" y="6096000"/>
                </a:cubicBezTo>
                <a:lnTo>
                  <a:pt x="0" y="60960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481302" y="1996440"/>
            <a:ext cx="598679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187018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6" y="822960"/>
            <a:ext cx="6140334" cy="973212"/>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71725" y="1996440"/>
            <a:ext cx="6140335" cy="4099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31088019-00EC-C5EE-FDBA-3FD6E5C52EF8}"/>
              </a:ext>
            </a:extLst>
          </p:cNvPr>
          <p:cNvSpPr>
            <a:spLocks noGrp="1"/>
          </p:cNvSpPr>
          <p:nvPr>
            <p:ph type="pic" sz="quarter" idx="15" hasCustomPrompt="1"/>
          </p:nvPr>
        </p:nvSpPr>
        <p:spPr>
          <a:xfrm>
            <a:off x="7619999" y="0"/>
            <a:ext cx="4572001" cy="6095689"/>
          </a:xfrm>
          <a:custGeom>
            <a:avLst/>
            <a:gdLst>
              <a:gd name="connsiteX0" fmla="*/ 0 w 4572001"/>
              <a:gd name="connsiteY0" fmla="*/ 0 h 6095689"/>
              <a:gd name="connsiteX1" fmla="*/ 4572001 w 4572001"/>
              <a:gd name="connsiteY1" fmla="*/ 0 h 6095689"/>
              <a:gd name="connsiteX2" fmla="*/ 4572001 w 4572001"/>
              <a:gd name="connsiteY2" fmla="*/ 6095689 h 6095689"/>
              <a:gd name="connsiteX3" fmla="*/ 501522 w 4572001"/>
              <a:gd name="connsiteY3" fmla="*/ 6095689 h 6095689"/>
              <a:gd name="connsiteX4" fmla="*/ 0 w 4572001"/>
              <a:gd name="connsiteY4" fmla="*/ 5590205 h 609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1" h="6095689">
                <a:moveTo>
                  <a:pt x="0" y="0"/>
                </a:moveTo>
                <a:lnTo>
                  <a:pt x="4572001" y="0"/>
                </a:lnTo>
                <a:lnTo>
                  <a:pt x="4572001" y="6095689"/>
                </a:lnTo>
                <a:lnTo>
                  <a:pt x="501522" y="6095689"/>
                </a:lnTo>
                <a:cubicBezTo>
                  <a:pt x="224539" y="6095689"/>
                  <a:pt x="0" y="5869376"/>
                  <a:pt x="0" y="559020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F1B30B23-B6C4-3723-57BA-D70C99D0320B}"/>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B5CB376B-27E9-4CDA-655E-2AE645F1DE44}"/>
              </a:ext>
            </a:extLst>
          </p:cNvPr>
          <p:cNvSpPr>
            <a:spLocks noGrp="1"/>
          </p:cNvSpPr>
          <p:nvPr>
            <p:ph type="dt" sz="half" idx="16"/>
          </p:nvPr>
        </p:nvSpPr>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4EC5A43C-DD1F-E7E6-BBC8-F953BC288BB0}"/>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77551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DBFBCB5-4A7B-F7B3-9AAF-F908FB128AB0}"/>
              </a:ext>
            </a:extLst>
          </p:cNvPr>
          <p:cNvSpPr>
            <a:spLocks noGrp="1"/>
          </p:cNvSpPr>
          <p:nvPr>
            <p:ph type="pic" sz="quarter" idx="15" hasCustomPrompt="1"/>
          </p:nvPr>
        </p:nvSpPr>
        <p:spPr>
          <a:xfrm>
            <a:off x="0" y="0"/>
            <a:ext cx="6548534" cy="6100464"/>
          </a:xfrm>
          <a:custGeom>
            <a:avLst/>
            <a:gdLst>
              <a:gd name="connsiteX0" fmla="*/ 0 w 6548534"/>
              <a:gd name="connsiteY0" fmla="*/ 0 h 6100464"/>
              <a:gd name="connsiteX1" fmla="*/ 6548534 w 6548534"/>
              <a:gd name="connsiteY1" fmla="*/ 0 h 6100464"/>
              <a:gd name="connsiteX2" fmla="*/ 6548534 w 6548534"/>
              <a:gd name="connsiteY2" fmla="*/ 5595865 h 6100464"/>
              <a:gd name="connsiteX3" fmla="*/ 6047012 w 6548534"/>
              <a:gd name="connsiteY3" fmla="*/ 6100464 h 6100464"/>
              <a:gd name="connsiteX4" fmla="*/ 0 w 6548534"/>
              <a:gd name="connsiteY4" fmla="*/ 6100464 h 6100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534" h="6100464">
                <a:moveTo>
                  <a:pt x="0" y="0"/>
                </a:moveTo>
                <a:lnTo>
                  <a:pt x="6548534" y="0"/>
                </a:lnTo>
                <a:lnTo>
                  <a:pt x="6548534" y="5595865"/>
                </a:lnTo>
                <a:cubicBezTo>
                  <a:pt x="6548534" y="5874548"/>
                  <a:pt x="6323995" y="6100464"/>
                  <a:pt x="6047012" y="6100464"/>
                </a:cubicBezTo>
                <a:lnTo>
                  <a:pt x="0" y="61004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11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8F54AB8-6B4D-C00F-7A9F-6627E7066D2A}"/>
              </a:ext>
            </a:extLst>
          </p:cNvPr>
          <p:cNvSpPr>
            <a:spLocks noGrp="1"/>
          </p:cNvSpPr>
          <p:nvPr>
            <p:ph type="ftr" sz="quarter" idx="17"/>
          </p:nvPr>
        </p:nvSpPr>
        <p:spPr/>
        <p:txBody>
          <a:bodyPr/>
          <a:lstStyle/>
          <a:p>
            <a:endParaRPr lang="en-US"/>
          </a:p>
        </p:txBody>
      </p:sp>
      <p:sp>
        <p:nvSpPr>
          <p:cNvPr id="4" name="Date Placeholder 3">
            <a:extLst>
              <a:ext uri="{FF2B5EF4-FFF2-40B4-BE49-F238E27FC236}">
                <a16:creationId xmlns:a16="http://schemas.microsoft.com/office/drawing/2014/main" id="{DC218C63-B1E1-78F4-CF24-6991FB09C1C4}"/>
              </a:ext>
            </a:extLst>
          </p:cNvPr>
          <p:cNvSpPr>
            <a:spLocks noGrp="1"/>
          </p:cNvSpPr>
          <p:nvPr>
            <p:ph type="dt" sz="half" idx="16"/>
          </p:nvPr>
        </p:nvSpPr>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BD268E9B-F4A2-5ABF-D43A-3BF4DCADB3FB}"/>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247215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4" y="822961"/>
            <a:ext cx="4177554" cy="103124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1725" y="1993392"/>
            <a:ext cx="4177553" cy="4102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CD2D7B58-DFF6-BC00-8544-64FC5F7EED57}"/>
              </a:ext>
            </a:extLst>
          </p:cNvPr>
          <p:cNvSpPr>
            <a:spLocks noGrp="1"/>
          </p:cNvSpPr>
          <p:nvPr>
            <p:ph type="pic" sz="quarter" idx="15" hasCustomPrompt="1"/>
          </p:nvPr>
        </p:nvSpPr>
        <p:spPr>
          <a:xfrm>
            <a:off x="5643722" y="0"/>
            <a:ext cx="6548279" cy="6105855"/>
          </a:xfrm>
          <a:custGeom>
            <a:avLst/>
            <a:gdLst>
              <a:gd name="connsiteX0" fmla="*/ 0 w 6548279"/>
              <a:gd name="connsiteY0" fmla="*/ 0 h 6105855"/>
              <a:gd name="connsiteX1" fmla="*/ 6548279 w 6548279"/>
              <a:gd name="connsiteY1" fmla="*/ 0 h 6105855"/>
              <a:gd name="connsiteX2" fmla="*/ 6548279 w 6548279"/>
              <a:gd name="connsiteY2" fmla="*/ 6105855 h 6105855"/>
              <a:gd name="connsiteX3" fmla="*/ 501522 w 6548279"/>
              <a:gd name="connsiteY3" fmla="*/ 6105855 h 6105855"/>
              <a:gd name="connsiteX4" fmla="*/ 0 w 6548279"/>
              <a:gd name="connsiteY4" fmla="*/ 5600680 h 6105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279" h="6105855">
                <a:moveTo>
                  <a:pt x="0" y="0"/>
                </a:moveTo>
                <a:lnTo>
                  <a:pt x="6548279" y="0"/>
                </a:lnTo>
                <a:lnTo>
                  <a:pt x="6548279" y="6105855"/>
                </a:lnTo>
                <a:lnTo>
                  <a:pt x="501522" y="6105855"/>
                </a:lnTo>
                <a:cubicBezTo>
                  <a:pt x="224539" y="6105855"/>
                  <a:pt x="0" y="5879680"/>
                  <a:pt x="0" y="560068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966140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03AE08AD-600E-B6CB-33D0-F11CE0529C45}"/>
              </a:ext>
            </a:extLst>
          </p:cNvPr>
          <p:cNvSpPr>
            <a:spLocks noGrp="1"/>
          </p:cNvSpPr>
          <p:nvPr>
            <p:ph type="pic" sz="quarter" idx="15" hasCustomPrompt="1"/>
          </p:nvPr>
        </p:nvSpPr>
        <p:spPr>
          <a:xfrm>
            <a:off x="1" y="765214"/>
            <a:ext cx="6559827" cy="6092786"/>
          </a:xfrm>
          <a:custGeom>
            <a:avLst/>
            <a:gdLst>
              <a:gd name="connsiteX0" fmla="*/ 0 w 6559827"/>
              <a:gd name="connsiteY0" fmla="*/ 0 h 6092786"/>
              <a:gd name="connsiteX1" fmla="*/ 6058305 w 6559827"/>
              <a:gd name="connsiteY1" fmla="*/ 0 h 6092786"/>
              <a:gd name="connsiteX2" fmla="*/ 6559827 w 6559827"/>
              <a:gd name="connsiteY2" fmla="*/ 501522 h 6092786"/>
              <a:gd name="connsiteX3" fmla="*/ 6559827 w 6559827"/>
              <a:gd name="connsiteY3" fmla="*/ 6092786 h 6092786"/>
              <a:gd name="connsiteX4" fmla="*/ 0 w 6559827"/>
              <a:gd name="connsiteY4" fmla="*/ 6092786 h 6092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9827" h="6092786">
                <a:moveTo>
                  <a:pt x="0" y="0"/>
                </a:moveTo>
                <a:lnTo>
                  <a:pt x="6058305" y="0"/>
                </a:lnTo>
                <a:cubicBezTo>
                  <a:pt x="6335288" y="0"/>
                  <a:pt x="6559827" y="224539"/>
                  <a:pt x="6559827" y="501522"/>
                </a:cubicBezTo>
                <a:lnTo>
                  <a:pt x="6559827" y="6092786"/>
                </a:lnTo>
                <a:lnTo>
                  <a:pt x="0" y="6092786"/>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071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3069" y="6329172"/>
            <a:ext cx="281683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01199" y="6329172"/>
            <a:ext cx="1387589"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5096" y="6329172"/>
            <a:ext cx="454437"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46265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324"/>
            <a:ext cx="2959272" cy="163084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8096" y="2590800"/>
            <a:ext cx="2959272" cy="3505200"/>
          </a:xfrm>
        </p:spPr>
        <p:txBody>
          <a:bodyPr vert="horz" lIns="91440" tIns="45720" rIns="91440" bIns="45720" rtlCol="0">
            <a:normAutofit/>
          </a:bodyPr>
          <a:lstStyle>
            <a:lvl1pPr marL="285750" indent="-285750">
              <a:buFont typeface="Arial" panose="020B0604020202020204" pitchFamily="34" charset="0"/>
              <a:buChar char="•"/>
              <a:defRPr lang="en-US" dirty="0"/>
            </a:lvl1pPr>
            <a:lvl2pPr marL="400050" indent="-171450">
              <a:buFont typeface="Arial" panose="020B0604020202020204" pitchFamily="34" charset="0"/>
              <a:buChar char="•"/>
              <a:defRPr lang="en-US" dirty="0"/>
            </a:lvl2pPr>
            <a:lvl3pPr marL="628650" indent="-171450">
              <a:buFont typeface="Arial" panose="020B0604020202020204" pitchFamily="34" charset="0"/>
              <a:buChar char="•"/>
              <a:defRPr lang="en-US" dirty="0"/>
            </a:lvl3pPr>
            <a:lvl4pPr marL="857250" indent="-171450">
              <a:buFont typeface="Arial" panose="020B0604020202020204" pitchFamily="34" charset="0"/>
              <a:buChar char="•"/>
              <a:defRPr lang="en-US" dirty="0"/>
            </a:lvl4pPr>
            <a:lvl5pPr marL="1085850"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7648"/>
            <a:ext cx="18336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01773" y="6318659"/>
            <a:ext cx="1092885" cy="338328"/>
          </a:xfrm>
        </p:spPr>
        <p:txBody>
          <a:bodyPr/>
          <a:lstStyle>
            <a:lvl1pPr>
              <a:defRPr>
                <a:solidFill>
                  <a:schemeClr val="tx1"/>
                </a:solidFill>
                <a:effectLst/>
              </a:defRPr>
            </a:lvl1p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94658" y="6318659"/>
            <a:ext cx="457200" cy="338328"/>
          </a:xfrm>
        </p:spPr>
        <p:txBody>
          <a:bodyPr/>
          <a:lstStyle/>
          <a:p>
            <a:fld id="{235F31FF-4816-4A7C-BAEE-4B5C41A91EB1}" type="slidenum">
              <a:rPr lang="en-US" smtClean="0"/>
              <a:t>‹#›</a:t>
            </a:fld>
            <a:endParaRPr lang="en-US"/>
          </a:p>
        </p:txBody>
      </p:sp>
      <p:sp>
        <p:nvSpPr>
          <p:cNvPr id="12" name="Picture Placeholder 11">
            <a:extLst>
              <a:ext uri="{FF2B5EF4-FFF2-40B4-BE49-F238E27FC236}">
                <a16:creationId xmlns:a16="http://schemas.microsoft.com/office/drawing/2014/main" id="{0A8E9606-29A0-9DB6-D153-C4863559DC60}"/>
              </a:ext>
            </a:extLst>
          </p:cNvPr>
          <p:cNvSpPr>
            <a:spLocks noGrp="1"/>
          </p:cNvSpPr>
          <p:nvPr>
            <p:ph type="pic" sz="quarter" idx="15" hasCustomPrompt="1"/>
          </p:nvPr>
        </p:nvSpPr>
        <p:spPr>
          <a:xfrm>
            <a:off x="4383033" y="765213"/>
            <a:ext cx="7808967" cy="6092787"/>
          </a:xfrm>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559167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4842437"/>
            <a:ext cx="3636745" cy="1253564"/>
          </a:xfrm>
        </p:spPr>
        <p:txBody>
          <a:bodyPr anchor="t">
            <a:noAutofit/>
          </a:bodyPr>
          <a:lstStyle>
            <a:lvl1pPr>
              <a:defRPr sz="25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90D792C-BF4F-3E3A-5C82-8AA602818235}"/>
              </a:ext>
            </a:extLst>
          </p:cNvPr>
          <p:cNvSpPr>
            <a:spLocks noGrp="1"/>
          </p:cNvSpPr>
          <p:nvPr>
            <p:ph type="pic" sz="quarter" idx="15" hasCustomPrompt="1"/>
          </p:nvPr>
        </p:nvSpPr>
        <p:spPr>
          <a:xfrm>
            <a:off x="0" y="0"/>
            <a:ext cx="11468100" cy="4354140"/>
          </a:xfrm>
          <a:custGeom>
            <a:avLst/>
            <a:gdLst>
              <a:gd name="connsiteX0" fmla="*/ 0 w 11468100"/>
              <a:gd name="connsiteY0" fmla="*/ 0 h 4354140"/>
              <a:gd name="connsiteX1" fmla="*/ 11468100 w 11468100"/>
              <a:gd name="connsiteY1" fmla="*/ 0 h 4354140"/>
              <a:gd name="connsiteX2" fmla="*/ 11468100 w 11468100"/>
              <a:gd name="connsiteY2" fmla="*/ 3852618 h 4354140"/>
              <a:gd name="connsiteX3" fmla="*/ 10965387 w 11468100"/>
              <a:gd name="connsiteY3" fmla="*/ 4354140 h 4354140"/>
              <a:gd name="connsiteX4" fmla="*/ 0 w 11468100"/>
              <a:gd name="connsiteY4" fmla="*/ 4354140 h 435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4354140">
                <a:moveTo>
                  <a:pt x="0" y="0"/>
                </a:moveTo>
                <a:lnTo>
                  <a:pt x="11468100" y="0"/>
                </a:lnTo>
                <a:lnTo>
                  <a:pt x="11468100" y="3852618"/>
                </a:lnTo>
                <a:cubicBezTo>
                  <a:pt x="11468100" y="4129601"/>
                  <a:pt x="11243028" y="4354140"/>
                  <a:pt x="10965387" y="4354140"/>
                </a:cubicBezTo>
                <a:lnTo>
                  <a:pt x="0" y="435414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89635" y="4854632"/>
            <a:ext cx="6579807" cy="139376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859340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4095740"/>
            <a:ext cx="3242191" cy="1704459"/>
          </a:xfrm>
        </p:spPr>
        <p:txBody>
          <a:bodyPr anchor="t">
            <a:noAutofit/>
          </a:bodyPr>
          <a:lstStyle>
            <a:lvl1pPr>
              <a:defRPr sz="25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C842B8C5-7416-8C92-3E56-737867305A74}"/>
              </a:ext>
            </a:extLst>
          </p:cNvPr>
          <p:cNvSpPr>
            <a:spLocks noGrp="1"/>
          </p:cNvSpPr>
          <p:nvPr>
            <p:ph type="pic" sz="quarter" idx="15" hasCustomPrompt="1"/>
          </p:nvPr>
        </p:nvSpPr>
        <p:spPr>
          <a:xfrm>
            <a:off x="0" y="0"/>
            <a:ext cx="11468100" cy="3659602"/>
          </a:xfrm>
          <a:custGeom>
            <a:avLst/>
            <a:gdLst>
              <a:gd name="connsiteX0" fmla="*/ 0 w 11468100"/>
              <a:gd name="connsiteY0" fmla="*/ 0 h 3659602"/>
              <a:gd name="connsiteX1" fmla="*/ 11468100 w 11468100"/>
              <a:gd name="connsiteY1" fmla="*/ 0 h 3659602"/>
              <a:gd name="connsiteX2" fmla="*/ 11468100 w 11468100"/>
              <a:gd name="connsiteY2" fmla="*/ 3158080 h 3659602"/>
              <a:gd name="connsiteX3" fmla="*/ 10964923 w 11468100"/>
              <a:gd name="connsiteY3" fmla="*/ 3659602 h 3659602"/>
              <a:gd name="connsiteX4" fmla="*/ 0 w 11468100"/>
              <a:gd name="connsiteY4" fmla="*/ 3659602 h 365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659602">
                <a:moveTo>
                  <a:pt x="0" y="0"/>
                </a:moveTo>
                <a:lnTo>
                  <a:pt x="11468100" y="0"/>
                </a:lnTo>
                <a:lnTo>
                  <a:pt x="11468100" y="3158080"/>
                </a:lnTo>
                <a:cubicBezTo>
                  <a:pt x="11468100" y="3435063"/>
                  <a:pt x="11242820" y="3659602"/>
                  <a:pt x="10964923" y="3659602"/>
                </a:cubicBezTo>
                <a:lnTo>
                  <a:pt x="0" y="365960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4095740"/>
            <a:ext cx="7092745" cy="200601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479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159974" cy="1612741"/>
          </a:xfrm>
        </p:spPr>
        <p:txBody>
          <a:bodyPr anchor="t">
            <a:noAutofit/>
          </a:bodyPr>
          <a:lstStyle>
            <a:lvl1pPr>
              <a:defRPr sz="2500"/>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0D06C70-6C8E-0F10-743F-047DC1563DEE}"/>
              </a:ext>
            </a:extLst>
          </p:cNvPr>
          <p:cNvSpPr>
            <a:spLocks noGrp="1"/>
          </p:cNvSpPr>
          <p:nvPr>
            <p:ph type="ftr" sz="quarter" idx="17"/>
          </p:nvPr>
        </p:nvSpPr>
        <p:spPr>
          <a:xfrm>
            <a:off x="772090" y="64008"/>
            <a:ext cx="2816835" cy="338328"/>
          </a:xfrm>
        </p:spPr>
        <p:txBody>
          <a:bodyPr/>
          <a:lstStyle/>
          <a:p>
            <a:endParaRPr lang="en-US"/>
          </a:p>
        </p:txBody>
      </p:sp>
      <p:sp>
        <p:nvSpPr>
          <p:cNvPr id="3" name="Date Placeholder 2">
            <a:extLst>
              <a:ext uri="{FF2B5EF4-FFF2-40B4-BE49-F238E27FC236}">
                <a16:creationId xmlns:a16="http://schemas.microsoft.com/office/drawing/2014/main" id="{984B292A-7A06-6DDC-E8C4-EBEEF5A46C03}"/>
              </a:ext>
            </a:extLst>
          </p:cNvPr>
          <p:cNvSpPr>
            <a:spLocks noGrp="1"/>
          </p:cNvSpPr>
          <p:nvPr>
            <p:ph type="dt" sz="half" idx="16"/>
          </p:nvPr>
        </p:nvSpPr>
        <p:spPr>
          <a:xfrm>
            <a:off x="9291411" y="64008"/>
            <a:ext cx="1612674" cy="338328"/>
          </a:xfrm>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5D35E09C-E9FB-8393-0705-FD349F06C4C1}"/>
              </a:ext>
            </a:extLst>
          </p:cNvPr>
          <p:cNvSpPr>
            <a:spLocks noGrp="1"/>
          </p:cNvSpPr>
          <p:nvPr>
            <p:ph type="sldNum" sz="quarter" idx="18"/>
          </p:nvPr>
        </p:nvSpPr>
        <p:spPr>
          <a:xfrm>
            <a:off x="11050742" y="64008"/>
            <a:ext cx="457200" cy="338328"/>
          </a:xfrm>
        </p:spPr>
        <p:txBody>
          <a:bodyPr/>
          <a:lstStyle/>
          <a:p>
            <a:fld id="{235F31FF-4816-4A7C-BAEE-4B5C41A91EB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822959"/>
            <a:ext cx="7092745" cy="19986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90B4482-E492-864A-9429-7F3F86067CBD}"/>
              </a:ext>
            </a:extLst>
          </p:cNvPr>
          <p:cNvSpPr>
            <a:spLocks noGrp="1"/>
          </p:cNvSpPr>
          <p:nvPr>
            <p:ph type="pic" sz="quarter" idx="15" hasCustomPrompt="1"/>
          </p:nvPr>
        </p:nvSpPr>
        <p:spPr>
          <a:xfrm>
            <a:off x="0" y="3268078"/>
            <a:ext cx="11468100" cy="3589922"/>
          </a:xfrm>
          <a:custGeom>
            <a:avLst/>
            <a:gdLst>
              <a:gd name="connsiteX0" fmla="*/ 0 w 11468100"/>
              <a:gd name="connsiteY0" fmla="*/ 0 h 3589922"/>
              <a:gd name="connsiteX1" fmla="*/ 10964923 w 11468100"/>
              <a:gd name="connsiteY1" fmla="*/ 0 h 3589922"/>
              <a:gd name="connsiteX2" fmla="*/ 11468100 w 11468100"/>
              <a:gd name="connsiteY2" fmla="*/ 501522 h 3589922"/>
              <a:gd name="connsiteX3" fmla="*/ 11468100 w 11468100"/>
              <a:gd name="connsiteY3" fmla="*/ 3589922 h 3589922"/>
              <a:gd name="connsiteX4" fmla="*/ 0 w 11468100"/>
              <a:gd name="connsiteY4" fmla="*/ 3589922 h 358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589922">
                <a:moveTo>
                  <a:pt x="0" y="0"/>
                </a:moveTo>
                <a:lnTo>
                  <a:pt x="10964923" y="0"/>
                </a:lnTo>
                <a:cubicBezTo>
                  <a:pt x="11242820" y="0"/>
                  <a:pt x="11468100" y="224539"/>
                  <a:pt x="11468100" y="501522"/>
                </a:cubicBezTo>
                <a:lnTo>
                  <a:pt x="11468100" y="3589922"/>
                </a:lnTo>
                <a:lnTo>
                  <a:pt x="0" y="3589922"/>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691466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3316097"/>
            <a:ext cx="3242191" cy="1704459"/>
          </a:xfrm>
        </p:spPr>
        <p:txBody>
          <a:bodyPr anchor="t">
            <a:noAutofit/>
          </a:bodyPr>
          <a:lstStyle>
            <a:lvl1pPr>
              <a:defRPr sz="25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6389053-627F-50C3-46B2-6517FF15D614}"/>
              </a:ext>
            </a:extLst>
          </p:cNvPr>
          <p:cNvSpPr>
            <a:spLocks noGrp="1"/>
          </p:cNvSpPr>
          <p:nvPr>
            <p:ph type="pic" sz="quarter" idx="15" hasCustomPrompt="1"/>
          </p:nvPr>
        </p:nvSpPr>
        <p:spPr>
          <a:xfrm>
            <a:off x="0" y="1"/>
            <a:ext cx="11468100" cy="2879959"/>
          </a:xfrm>
          <a:custGeom>
            <a:avLst/>
            <a:gdLst>
              <a:gd name="connsiteX0" fmla="*/ 0 w 11468100"/>
              <a:gd name="connsiteY0" fmla="*/ 0 h 2879959"/>
              <a:gd name="connsiteX1" fmla="*/ 11468100 w 11468100"/>
              <a:gd name="connsiteY1" fmla="*/ 0 h 2879959"/>
              <a:gd name="connsiteX2" fmla="*/ 11468100 w 11468100"/>
              <a:gd name="connsiteY2" fmla="*/ 2378437 h 2879959"/>
              <a:gd name="connsiteX3" fmla="*/ 10964923 w 11468100"/>
              <a:gd name="connsiteY3" fmla="*/ 2879959 h 2879959"/>
              <a:gd name="connsiteX4" fmla="*/ 0 w 11468100"/>
              <a:gd name="connsiteY4" fmla="*/ 2879959 h 287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2879959">
                <a:moveTo>
                  <a:pt x="0" y="0"/>
                </a:moveTo>
                <a:lnTo>
                  <a:pt x="11468100" y="0"/>
                </a:lnTo>
                <a:lnTo>
                  <a:pt x="11468100" y="2378437"/>
                </a:lnTo>
                <a:cubicBezTo>
                  <a:pt x="11468100" y="2655420"/>
                  <a:pt x="11242820" y="2879959"/>
                  <a:pt x="10964923" y="2879959"/>
                </a:cubicBezTo>
                <a:lnTo>
                  <a:pt x="0" y="287995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3316096"/>
            <a:ext cx="7092745" cy="28529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943917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04428"/>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F790B68-0230-A98B-796E-2C008AC2CC5D}"/>
              </a:ext>
            </a:extLst>
          </p:cNvPr>
          <p:cNvSpPr>
            <a:spLocks noGrp="1"/>
          </p:cNvSpPr>
          <p:nvPr>
            <p:ph type="pic" sz="quarter" idx="15" hasCustomPrompt="1"/>
          </p:nvPr>
        </p:nvSpPr>
        <p:spPr>
          <a:xfrm>
            <a:off x="0" y="1750092"/>
            <a:ext cx="6553940" cy="5107908"/>
          </a:xfrm>
          <a:custGeom>
            <a:avLst/>
            <a:gdLst>
              <a:gd name="connsiteX0" fmla="*/ 0 w 6553940"/>
              <a:gd name="connsiteY0" fmla="*/ 0 h 5107908"/>
              <a:gd name="connsiteX1" fmla="*/ 6118541 w 6553940"/>
              <a:gd name="connsiteY1" fmla="*/ 0 h 5107908"/>
              <a:gd name="connsiteX2" fmla="*/ 6553940 w 6553940"/>
              <a:gd name="connsiteY2" fmla="*/ 439618 h 5107908"/>
              <a:gd name="connsiteX3" fmla="*/ 6553940 w 6553940"/>
              <a:gd name="connsiteY3" fmla="*/ 5107908 h 5107908"/>
              <a:gd name="connsiteX4" fmla="*/ 0 w 6553940"/>
              <a:gd name="connsiteY4" fmla="*/ 5107908 h 510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3940" h="5107908">
                <a:moveTo>
                  <a:pt x="0" y="0"/>
                </a:moveTo>
                <a:lnTo>
                  <a:pt x="6118541" y="0"/>
                </a:lnTo>
                <a:cubicBezTo>
                  <a:pt x="6359005" y="0"/>
                  <a:pt x="6553940" y="196824"/>
                  <a:pt x="6553940" y="439618"/>
                </a:cubicBezTo>
                <a:lnTo>
                  <a:pt x="6553940" y="5107908"/>
                </a:lnTo>
                <a:lnTo>
                  <a:pt x="0" y="510790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99994" y="1679171"/>
            <a:ext cx="4268106" cy="44930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99994" y="6389695"/>
            <a:ext cx="218382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3704" y="6389695"/>
            <a:ext cx="1625600"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5200" y="638969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08683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59"/>
            <a:ext cx="4811167" cy="916991"/>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40936EEA-460B-E34D-8B9C-832ADF15E401}"/>
              </a:ext>
            </a:extLst>
          </p:cNvPr>
          <p:cNvSpPr>
            <a:spLocks noGrp="1"/>
          </p:cNvSpPr>
          <p:nvPr>
            <p:ph type="pic" sz="quarter" idx="15" hasCustomPrompt="1"/>
          </p:nvPr>
        </p:nvSpPr>
        <p:spPr>
          <a:xfrm>
            <a:off x="1" y="1958288"/>
            <a:ext cx="5620853" cy="4899713"/>
          </a:xfrm>
          <a:custGeom>
            <a:avLst/>
            <a:gdLst>
              <a:gd name="connsiteX0" fmla="*/ 0 w 5620853"/>
              <a:gd name="connsiteY0" fmla="*/ 0 h 4899713"/>
              <a:gd name="connsiteX1" fmla="*/ 5119331 w 5620853"/>
              <a:gd name="connsiteY1" fmla="*/ 0 h 4899713"/>
              <a:gd name="connsiteX2" fmla="*/ 5620853 w 5620853"/>
              <a:gd name="connsiteY2" fmla="*/ 501522 h 4899713"/>
              <a:gd name="connsiteX3" fmla="*/ 5620853 w 5620853"/>
              <a:gd name="connsiteY3" fmla="*/ 4899713 h 4899713"/>
              <a:gd name="connsiteX4" fmla="*/ 0 w 5620853"/>
              <a:gd name="connsiteY4" fmla="*/ 4899713 h 489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853" h="4899713">
                <a:moveTo>
                  <a:pt x="0" y="0"/>
                </a:moveTo>
                <a:lnTo>
                  <a:pt x="5119331" y="0"/>
                </a:lnTo>
                <a:cubicBezTo>
                  <a:pt x="5396314" y="0"/>
                  <a:pt x="5620853" y="224539"/>
                  <a:pt x="5620853" y="501522"/>
                </a:cubicBezTo>
                <a:lnTo>
                  <a:pt x="5620853" y="4899713"/>
                </a:lnTo>
                <a:lnTo>
                  <a:pt x="0" y="4899713"/>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314184" y="822960"/>
            <a:ext cx="5153915" cy="527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11795" y="6387559"/>
            <a:ext cx="286839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31917" y="6387559"/>
            <a:ext cx="1658678"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5" y="6387559"/>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34605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383280" cy="1269365"/>
          </a:xfrm>
        </p:spPr>
        <p:txBody>
          <a:bodyPr anchor="t">
            <a:normAutofit/>
          </a:bodyPr>
          <a:lstStyle>
            <a:lvl1pPr>
              <a:defRPr sz="2500"/>
            </a:lvl1pPr>
          </a:lstStyle>
          <a:p>
            <a:r>
              <a:rPr lang="en-US"/>
              <a:t>Click to edit Master title style</a:t>
            </a:r>
            <a:endParaRPr lang="en-US" dirty="0"/>
          </a:p>
        </p:txBody>
      </p:sp>
      <p:sp>
        <p:nvSpPr>
          <p:cNvPr id="11" name="Picture Placeholder 9">
            <a:extLst>
              <a:ext uri="{FF2B5EF4-FFF2-40B4-BE49-F238E27FC236}">
                <a16:creationId xmlns:a16="http://schemas.microsoft.com/office/drawing/2014/main" id="{2E39E907-908A-148E-8CF0-2C3161E428B4}"/>
              </a:ext>
            </a:extLst>
          </p:cNvPr>
          <p:cNvSpPr>
            <a:spLocks noGrp="1"/>
          </p:cNvSpPr>
          <p:nvPr>
            <p:ph type="pic" sz="quarter" idx="15" hasCustomPrompt="1"/>
          </p:nvPr>
        </p:nvSpPr>
        <p:spPr>
          <a:xfrm>
            <a:off x="1" y="2387462"/>
            <a:ext cx="4145281" cy="4470539"/>
          </a:xfrm>
          <a:custGeom>
            <a:avLst/>
            <a:gdLst>
              <a:gd name="connsiteX0" fmla="*/ 0 w 4145281"/>
              <a:gd name="connsiteY0" fmla="*/ 0 h 4470539"/>
              <a:gd name="connsiteX1" fmla="*/ 3629230 w 4145281"/>
              <a:gd name="connsiteY1" fmla="*/ 0 h 4470539"/>
              <a:gd name="connsiteX2" fmla="*/ 4145281 w 4145281"/>
              <a:gd name="connsiteY2" fmla="*/ 516051 h 4470539"/>
              <a:gd name="connsiteX3" fmla="*/ 4145281 w 4145281"/>
              <a:gd name="connsiteY3" fmla="*/ 4470539 h 4470539"/>
              <a:gd name="connsiteX4" fmla="*/ 0 w 4145281"/>
              <a:gd name="connsiteY4" fmla="*/ 4470539 h 4470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1" h="4470539">
                <a:moveTo>
                  <a:pt x="0" y="0"/>
                </a:moveTo>
                <a:lnTo>
                  <a:pt x="3629230" y="0"/>
                </a:lnTo>
                <a:cubicBezTo>
                  <a:pt x="3914237" y="0"/>
                  <a:pt x="4145281" y="231044"/>
                  <a:pt x="4145281" y="516051"/>
                </a:cubicBezTo>
                <a:lnTo>
                  <a:pt x="4145281" y="4470539"/>
                </a:lnTo>
                <a:lnTo>
                  <a:pt x="0" y="447053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39479" y="781685"/>
            <a:ext cx="6628621" cy="5390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146266" y="6388215"/>
            <a:ext cx="296900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32999" y="6388215"/>
            <a:ext cx="2558901" cy="338328"/>
          </a:xfrm>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3" y="638821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5748437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 uri="{C183D7F6-B498-43B3-948B-1728B52AA6E4}">
                <adec:decorative xmlns:adec="http://schemas.microsoft.com/office/drawing/2017/decorative" val="1"/>
              </a:ext>
            </a:extLst>
          </p:cNvPr>
          <p:cNvSpPr/>
          <p:nvPr/>
        </p:nvSpPr>
        <p:spPr>
          <a:xfrm>
            <a:off x="-1524" y="0"/>
            <a:ext cx="12192000" cy="6858000"/>
          </a:xfrm>
          <a:prstGeom prst="rect">
            <a:avLst/>
          </a:prstGeom>
          <a:solidFill>
            <a:schemeClr val="accent3">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24765867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F3547126-466C-18B0-8C04-007D93615CD9}"/>
              </a:ext>
              <a:ext uri="{C183D7F6-B498-43B3-948B-1728B52AA6E4}">
                <adec:decorative xmlns:adec="http://schemas.microsoft.com/office/drawing/2017/decorative" val="1"/>
              </a:ext>
            </a:extLst>
          </p:cNvPr>
          <p:cNvSpPr/>
          <p:nvPr/>
        </p:nvSpPr>
        <p:spPr>
          <a:xfrm>
            <a:off x="0" y="-1"/>
            <a:ext cx="11208688" cy="5154130"/>
          </a:xfrm>
          <a:custGeom>
            <a:avLst/>
            <a:gdLst>
              <a:gd name="connsiteX0" fmla="*/ 0 w 11208688"/>
              <a:gd name="connsiteY0" fmla="*/ 0 h 5154130"/>
              <a:gd name="connsiteX1" fmla="*/ 11208688 w 11208688"/>
              <a:gd name="connsiteY1" fmla="*/ 0 h 5154130"/>
              <a:gd name="connsiteX2" fmla="*/ 11208688 w 11208688"/>
              <a:gd name="connsiteY2" fmla="*/ 526471 h 5154130"/>
              <a:gd name="connsiteX3" fmla="*/ 11208688 w 11208688"/>
              <a:gd name="connsiteY3" fmla="*/ 4126137 h 5154130"/>
              <a:gd name="connsiteX4" fmla="*/ 11208688 w 11208688"/>
              <a:gd name="connsiteY4" fmla="*/ 4652608 h 5154130"/>
              <a:gd name="connsiteX5" fmla="*/ 10707166 w 11208688"/>
              <a:gd name="connsiteY5" fmla="*/ 5154130 h 5154130"/>
              <a:gd name="connsiteX6" fmla="*/ 0 w 11208688"/>
              <a:gd name="connsiteY6" fmla="*/ 5154130 h 5154130"/>
              <a:gd name="connsiteX7" fmla="*/ 0 w 11208688"/>
              <a:gd name="connsiteY7" fmla="*/ 4627659 h 5154130"/>
              <a:gd name="connsiteX8" fmla="*/ 0 w 11208688"/>
              <a:gd name="connsiteY8" fmla="*/ 526471 h 515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08688" h="5154130">
                <a:moveTo>
                  <a:pt x="0" y="0"/>
                </a:moveTo>
                <a:lnTo>
                  <a:pt x="11208688" y="0"/>
                </a:lnTo>
                <a:lnTo>
                  <a:pt x="11208688" y="526471"/>
                </a:lnTo>
                <a:lnTo>
                  <a:pt x="11208688" y="4126137"/>
                </a:lnTo>
                <a:lnTo>
                  <a:pt x="11208688" y="4652608"/>
                </a:lnTo>
                <a:cubicBezTo>
                  <a:pt x="11208688" y="4929591"/>
                  <a:pt x="10984149" y="5154130"/>
                  <a:pt x="10707166" y="5154130"/>
                </a:cubicBezTo>
                <a:lnTo>
                  <a:pt x="0" y="5154130"/>
                </a:lnTo>
                <a:lnTo>
                  <a:pt x="0" y="4627659"/>
                </a:lnTo>
                <a:lnTo>
                  <a:pt x="0" y="5264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72089" y="5483352"/>
            <a:ext cx="10361130" cy="848177"/>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1015" y="684412"/>
            <a:ext cx="10592204" cy="4122998"/>
          </a:xfrm>
        </p:spPr>
        <p:txBody>
          <a:bodyPr vert="horz" lIns="91440" tIns="45720" rIns="91440" bIns="45720" rtlCol="0" anchor="b">
            <a:normAutofit/>
          </a:bodyPr>
          <a:lstStyle>
            <a:lvl1pPr marL="0" indent="0">
              <a:lnSpc>
                <a:spcPct val="90000"/>
              </a:lnSpc>
              <a:buNone/>
              <a:defRPr lang="en-US" sz="27800" spc="-200" baseline="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68604114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D0AA79A0-CEA9-1C5C-A8CA-D3F95D56333A}"/>
              </a:ext>
              <a:ext uri="{C183D7F6-B498-43B3-948B-1728B52AA6E4}">
                <adec:decorative xmlns:adec="http://schemas.microsoft.com/office/drawing/2017/decorative" val="1"/>
              </a:ext>
            </a:extLst>
          </p:cNvPr>
          <p:cNvSpPr/>
          <p:nvPr/>
        </p:nvSpPr>
        <p:spPr>
          <a:xfrm>
            <a:off x="0" y="4757010"/>
            <a:ext cx="11208688" cy="2100988"/>
          </a:xfrm>
          <a:custGeom>
            <a:avLst/>
            <a:gdLst>
              <a:gd name="connsiteX0" fmla="*/ 0 w 11208688"/>
              <a:gd name="connsiteY0" fmla="*/ 0 h 2100988"/>
              <a:gd name="connsiteX1" fmla="*/ 10707166 w 11208688"/>
              <a:gd name="connsiteY1" fmla="*/ 0 h 2100988"/>
              <a:gd name="connsiteX2" fmla="*/ 11208688 w 11208688"/>
              <a:gd name="connsiteY2" fmla="*/ 501522 h 2100988"/>
              <a:gd name="connsiteX3" fmla="*/ 11208688 w 11208688"/>
              <a:gd name="connsiteY3" fmla="*/ 2100988 h 2100988"/>
              <a:gd name="connsiteX4" fmla="*/ 0 w 11208688"/>
              <a:gd name="connsiteY4" fmla="*/ 2100988 h 2100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100988">
                <a:moveTo>
                  <a:pt x="0" y="0"/>
                </a:moveTo>
                <a:lnTo>
                  <a:pt x="10707166" y="0"/>
                </a:lnTo>
                <a:cubicBezTo>
                  <a:pt x="10984149" y="0"/>
                  <a:pt x="11208688" y="224539"/>
                  <a:pt x="11208688" y="501522"/>
                </a:cubicBezTo>
                <a:lnTo>
                  <a:pt x="11208688" y="2100988"/>
                </a:lnTo>
                <a:lnTo>
                  <a:pt x="0" y="2100988"/>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F2C5FBA-F4AA-552B-2245-767D47272F3B}"/>
              </a:ext>
              <a:ext uri="{C183D7F6-B498-43B3-948B-1728B52AA6E4}">
                <adec:decorative xmlns:adec="http://schemas.microsoft.com/office/drawing/2017/decorative" val="1"/>
              </a:ext>
            </a:extLst>
          </p:cNvPr>
          <p:cNvSpPr/>
          <p:nvPr/>
        </p:nvSpPr>
        <p:spPr>
          <a:xfrm>
            <a:off x="0" y="1"/>
            <a:ext cx="11208688" cy="4627659"/>
          </a:xfrm>
          <a:custGeom>
            <a:avLst/>
            <a:gdLst>
              <a:gd name="connsiteX0" fmla="*/ 0 w 11208688"/>
              <a:gd name="connsiteY0" fmla="*/ 0 h 4627659"/>
              <a:gd name="connsiteX1" fmla="*/ 11208688 w 11208688"/>
              <a:gd name="connsiteY1" fmla="*/ 0 h 4627659"/>
              <a:gd name="connsiteX2" fmla="*/ 11208688 w 11208688"/>
              <a:gd name="connsiteY2" fmla="*/ 4126137 h 4627659"/>
              <a:gd name="connsiteX3" fmla="*/ 10707166 w 11208688"/>
              <a:gd name="connsiteY3" fmla="*/ 4627659 h 4627659"/>
              <a:gd name="connsiteX4" fmla="*/ 0 w 11208688"/>
              <a:gd name="connsiteY4" fmla="*/ 4627659 h 462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4627659">
                <a:moveTo>
                  <a:pt x="0" y="0"/>
                </a:moveTo>
                <a:lnTo>
                  <a:pt x="11208688" y="0"/>
                </a:lnTo>
                <a:lnTo>
                  <a:pt x="11208688" y="4126137"/>
                </a:lnTo>
                <a:cubicBezTo>
                  <a:pt x="11208688" y="4403120"/>
                  <a:pt x="10984149" y="4627659"/>
                  <a:pt x="10707166" y="4627659"/>
                </a:cubicBezTo>
                <a:lnTo>
                  <a:pt x="0" y="462765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30760"/>
            <a:ext cx="9738852" cy="1017639"/>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9328" y="420624"/>
            <a:ext cx="10592204" cy="4112875"/>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532959607"/>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34677EE2-225B-FA02-73B9-DFB5D013592F}"/>
              </a:ext>
              <a:ext uri="{C183D7F6-B498-43B3-948B-1728B52AA6E4}">
                <adec:decorative xmlns:adec="http://schemas.microsoft.com/office/drawing/2017/decorative" val="1"/>
              </a:ext>
            </a:extLst>
          </p:cNvPr>
          <p:cNvSpPr/>
          <p:nvPr/>
        </p:nvSpPr>
        <p:spPr>
          <a:xfrm>
            <a:off x="0" y="4783948"/>
            <a:ext cx="11208688" cy="2074052"/>
          </a:xfrm>
          <a:custGeom>
            <a:avLst/>
            <a:gdLst>
              <a:gd name="connsiteX0" fmla="*/ 0 w 11208688"/>
              <a:gd name="connsiteY0" fmla="*/ 0 h 2074052"/>
              <a:gd name="connsiteX1" fmla="*/ 10707166 w 11208688"/>
              <a:gd name="connsiteY1" fmla="*/ 0 h 2074052"/>
              <a:gd name="connsiteX2" fmla="*/ 11208688 w 11208688"/>
              <a:gd name="connsiteY2" fmla="*/ 501522 h 2074052"/>
              <a:gd name="connsiteX3" fmla="*/ 11208688 w 11208688"/>
              <a:gd name="connsiteY3" fmla="*/ 2074052 h 2074052"/>
              <a:gd name="connsiteX4" fmla="*/ 0 w 11208688"/>
              <a:gd name="connsiteY4" fmla="*/ 2074052 h 2074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074052">
                <a:moveTo>
                  <a:pt x="0" y="0"/>
                </a:moveTo>
                <a:lnTo>
                  <a:pt x="10707166" y="0"/>
                </a:lnTo>
                <a:cubicBezTo>
                  <a:pt x="10984149" y="0"/>
                  <a:pt x="11208688" y="224539"/>
                  <a:pt x="11208688" y="501522"/>
                </a:cubicBezTo>
                <a:lnTo>
                  <a:pt x="11208688" y="2074052"/>
                </a:lnTo>
                <a:lnTo>
                  <a:pt x="0" y="207405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49809"/>
            <a:ext cx="9768348" cy="1109078"/>
          </a:xfrm>
        </p:spPr>
        <p:txBody>
          <a:bodyPr vert="horz" lIns="91440" tIns="45720" rIns="91440" bIns="45720" rtlCol="0" anchor="ctr">
            <a:normAutofit/>
          </a:bodyPr>
          <a:lstStyle>
            <a:lvl1pPr>
              <a:lnSpc>
                <a:spcPct val="100000"/>
              </a:lnSpc>
              <a:defRPr lang="en-US" sz="240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341968"/>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8" name="Footer Placeholder 7">
            <a:extLst>
              <a:ext uri="{FF2B5EF4-FFF2-40B4-BE49-F238E27FC236}">
                <a16:creationId xmlns:a16="http://schemas.microsoft.com/office/drawing/2014/main" id="{881EFD95-05D4-9FAB-FCB7-D3A2AB29456D}"/>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1D5117C2-BE70-9A87-4113-2ECE3F1A43BF}"/>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6/26/2026</a:t>
            </a:fld>
            <a:endParaRPr lang="en-US"/>
          </a:p>
        </p:txBody>
      </p:sp>
      <p:sp>
        <p:nvSpPr>
          <p:cNvPr id="9" name="Slide Number Placeholder 8">
            <a:extLst>
              <a:ext uri="{FF2B5EF4-FFF2-40B4-BE49-F238E27FC236}">
                <a16:creationId xmlns:a16="http://schemas.microsoft.com/office/drawing/2014/main" id="{33776532-A6F1-5788-D1D1-3F91B5B3B7D7}"/>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5136855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4CBAD94-77D4-9CC1-DE93-BFA7FA5FBBB6}"/>
              </a:ext>
              <a:ext uri="{C183D7F6-B498-43B3-948B-1728B52AA6E4}">
                <adec:decorative xmlns:adec="http://schemas.microsoft.com/office/drawing/2017/decorative" val="1"/>
              </a:ext>
            </a:extLst>
          </p:cNvPr>
          <p:cNvSpPr/>
          <p:nvPr/>
        </p:nvSpPr>
        <p:spPr>
          <a:xfrm>
            <a:off x="772090" y="0"/>
            <a:ext cx="11419910" cy="6096000"/>
          </a:xfrm>
          <a:custGeom>
            <a:avLst/>
            <a:gdLst>
              <a:gd name="connsiteX0" fmla="*/ 0 w 11419910"/>
              <a:gd name="connsiteY0" fmla="*/ 0 h 6096000"/>
              <a:gd name="connsiteX1" fmla="*/ 11419910 w 11419910"/>
              <a:gd name="connsiteY1" fmla="*/ 0 h 6096000"/>
              <a:gd name="connsiteX2" fmla="*/ 11419910 w 11419910"/>
              <a:gd name="connsiteY2" fmla="*/ 6096000 h 6096000"/>
              <a:gd name="connsiteX3" fmla="*/ 501522 w 11419910"/>
              <a:gd name="connsiteY3" fmla="*/ 6096000 h 6096000"/>
              <a:gd name="connsiteX4" fmla="*/ 0 w 11419910"/>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9910" h="6096000">
                <a:moveTo>
                  <a:pt x="0" y="0"/>
                </a:moveTo>
                <a:lnTo>
                  <a:pt x="11419910" y="0"/>
                </a:lnTo>
                <a:lnTo>
                  <a:pt x="11419910" y="6096000"/>
                </a:lnTo>
                <a:lnTo>
                  <a:pt x="501522" y="6096000"/>
                </a:lnTo>
                <a:cubicBezTo>
                  <a:pt x="224539" y="6096000"/>
                  <a:pt x="0" y="5871461"/>
                  <a:pt x="0" y="5594478"/>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0575" y="863029"/>
            <a:ext cx="9383510" cy="4685017"/>
          </a:xfrm>
        </p:spPr>
        <p:txBody>
          <a:bodyPr anchor="b">
            <a:noAutofit/>
          </a:bodyPr>
          <a:lstStyle>
            <a:lvl1pPr marL="0" indent="0">
              <a:lnSpc>
                <a:spcPct val="90000"/>
              </a:lnSpc>
              <a:buNone/>
              <a:defRPr sz="6600" b="0"/>
            </a:lvl1pPr>
            <a:lvl2pPr marL="228600" indent="0">
              <a:lnSpc>
                <a:spcPct val="90000"/>
              </a:lnSpc>
              <a:buNone/>
              <a:defRPr sz="6000" b="0"/>
            </a:lvl2pPr>
            <a:lvl3pPr marL="457200" indent="0">
              <a:lnSpc>
                <a:spcPct val="90000"/>
              </a:lnSpc>
              <a:buNone/>
              <a:defRPr sz="5400" b="0"/>
            </a:lvl3pPr>
            <a:lvl4pPr marL="685800" indent="0">
              <a:lnSpc>
                <a:spcPct val="90000"/>
              </a:lnSpc>
              <a:buNone/>
              <a:defRPr sz="4800" b="0"/>
            </a:lvl4pPr>
            <a:lvl5pPr marL="914400" indent="0">
              <a:lnSpc>
                <a:spcPct val="90000"/>
              </a:lnSpc>
              <a:buNone/>
              <a:defRPr sz="4400" b="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31128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4592" y="94592"/>
            <a:ext cx="11617947" cy="5752531"/>
          </a:xfrm>
        </p:spPr>
        <p:txBody>
          <a:bodyPr anchor="t">
            <a:noAutofit/>
          </a:bodyPr>
          <a:lstStyle>
            <a:lvl1pPr marL="0" indent="0">
              <a:lnSpc>
                <a:spcPct val="90000"/>
              </a:lnSpc>
              <a:buNone/>
              <a:defRPr sz="7200" b="0" cap="all" spc="-100" baseline="0">
                <a:solidFill>
                  <a:schemeClr val="accent1"/>
                </a:solidFill>
              </a:defRPr>
            </a:lvl1pPr>
            <a:lvl2pPr marL="228600" indent="0">
              <a:lnSpc>
                <a:spcPct val="90000"/>
              </a:lnSpc>
              <a:buNone/>
              <a:defRPr sz="7200" b="0" cap="all" spc="-100" baseline="0">
                <a:solidFill>
                  <a:schemeClr val="accent1"/>
                </a:solidFill>
              </a:defRPr>
            </a:lvl2pPr>
            <a:lvl3pPr marL="457200" indent="0">
              <a:lnSpc>
                <a:spcPct val="90000"/>
              </a:lnSpc>
              <a:buNone/>
              <a:defRPr sz="7200" b="0" cap="all" spc="-100" baseline="0">
                <a:solidFill>
                  <a:schemeClr val="accent1"/>
                </a:solidFill>
              </a:defRPr>
            </a:lvl3pPr>
            <a:lvl4pPr marL="685800" indent="0">
              <a:lnSpc>
                <a:spcPct val="90000"/>
              </a:lnSpc>
              <a:buNone/>
              <a:defRPr sz="7200" b="0" cap="all" spc="-100" baseline="0">
                <a:solidFill>
                  <a:schemeClr val="accent1"/>
                </a:solidFill>
              </a:defRPr>
            </a:lvl4pPr>
            <a:lvl5pPr marL="914400" indent="0">
              <a:lnSpc>
                <a:spcPct val="90000"/>
              </a:lnSpc>
              <a:buNone/>
              <a:defRPr sz="72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271115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0E08BE8-EB98-F551-F5ED-FE16CE82FBB9}"/>
              </a:ext>
              <a:ext uri="{C183D7F6-B498-43B3-948B-1728B52AA6E4}">
                <adec:decorative xmlns:adec="http://schemas.microsoft.com/office/drawing/2017/decorative" val="1"/>
              </a:ext>
            </a:extLst>
          </p:cNvPr>
          <p:cNvSpPr/>
          <p:nvPr/>
        </p:nvSpPr>
        <p:spPr>
          <a:xfrm>
            <a:off x="1" y="0"/>
            <a:ext cx="11139327" cy="5821522"/>
          </a:xfrm>
          <a:custGeom>
            <a:avLst/>
            <a:gdLst>
              <a:gd name="connsiteX0" fmla="*/ 0 w 11139327"/>
              <a:gd name="connsiteY0" fmla="*/ 0 h 5821522"/>
              <a:gd name="connsiteX1" fmla="*/ 11139327 w 11139327"/>
              <a:gd name="connsiteY1" fmla="*/ 0 h 5821522"/>
              <a:gd name="connsiteX2" fmla="*/ 11139327 w 11139327"/>
              <a:gd name="connsiteY2" fmla="*/ 5320000 h 5821522"/>
              <a:gd name="connsiteX3" fmla="*/ 10637805 w 11139327"/>
              <a:gd name="connsiteY3" fmla="*/ 5821522 h 5821522"/>
              <a:gd name="connsiteX4" fmla="*/ 0 w 11139327"/>
              <a:gd name="connsiteY4" fmla="*/ 5821522 h 582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9327" h="5821522">
                <a:moveTo>
                  <a:pt x="0" y="0"/>
                </a:moveTo>
                <a:lnTo>
                  <a:pt x="11139327" y="0"/>
                </a:lnTo>
                <a:lnTo>
                  <a:pt x="11139327" y="5320000"/>
                </a:lnTo>
                <a:cubicBezTo>
                  <a:pt x="11139327" y="5596983"/>
                  <a:pt x="10914788" y="5821522"/>
                  <a:pt x="10637805" y="5821522"/>
                </a:cubicBezTo>
                <a:lnTo>
                  <a:pt x="0" y="582152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90418" y="288194"/>
            <a:ext cx="9976207" cy="5025678"/>
          </a:xfrm>
        </p:spPr>
        <p:txBody>
          <a:bodyPr anchor="t">
            <a:noAutofit/>
          </a:bodyPr>
          <a:lstStyle>
            <a:lvl1pPr marL="0" indent="0">
              <a:lnSpc>
                <a:spcPct val="90000"/>
              </a:lnSpc>
              <a:buNone/>
              <a:defRPr sz="6600" b="0" cap="all" spc="-100" baseline="0">
                <a:solidFill>
                  <a:schemeClr val="accent1"/>
                </a:solidFill>
              </a:defRPr>
            </a:lvl1pPr>
            <a:lvl2pPr marL="228600" indent="0">
              <a:lnSpc>
                <a:spcPct val="90000"/>
              </a:lnSpc>
              <a:buNone/>
              <a:defRPr sz="6600" b="0" cap="all" spc="-100" baseline="0">
                <a:solidFill>
                  <a:schemeClr val="accent1"/>
                </a:solidFill>
              </a:defRPr>
            </a:lvl2pPr>
            <a:lvl3pPr marL="457200" indent="0">
              <a:lnSpc>
                <a:spcPct val="90000"/>
              </a:lnSpc>
              <a:buNone/>
              <a:defRPr sz="6600" b="0" cap="all" spc="-100" baseline="0">
                <a:solidFill>
                  <a:schemeClr val="accent1"/>
                </a:solidFill>
              </a:defRPr>
            </a:lvl3pPr>
            <a:lvl4pPr marL="685800" indent="0">
              <a:lnSpc>
                <a:spcPct val="90000"/>
              </a:lnSpc>
              <a:buNone/>
              <a:defRPr sz="6600" b="0" cap="all" spc="-100" baseline="0">
                <a:solidFill>
                  <a:schemeClr val="accent1"/>
                </a:solidFill>
              </a:defRPr>
            </a:lvl4pPr>
            <a:lvl5pPr marL="914400" indent="0">
              <a:lnSpc>
                <a:spcPct val="90000"/>
              </a:lnSpc>
              <a:buNone/>
              <a:defRPr sz="66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766689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AB2664E-ED20-1581-CFBA-A89627E3FD59}"/>
              </a:ext>
              <a:ext uri="{C183D7F6-B498-43B3-948B-1728B52AA6E4}">
                <adec:decorative xmlns:adec="http://schemas.microsoft.com/office/drawing/2017/decorative" val="1"/>
              </a:ext>
            </a:extLst>
          </p:cNvPr>
          <p:cNvSpPr/>
          <p:nvPr/>
        </p:nvSpPr>
        <p:spPr>
          <a:xfrm>
            <a:off x="1" y="0"/>
            <a:ext cx="10719069" cy="5585244"/>
          </a:xfrm>
          <a:custGeom>
            <a:avLst/>
            <a:gdLst>
              <a:gd name="connsiteX0" fmla="*/ 0 w 10719069"/>
              <a:gd name="connsiteY0" fmla="*/ 0 h 5585244"/>
              <a:gd name="connsiteX1" fmla="*/ 10719069 w 10719069"/>
              <a:gd name="connsiteY1" fmla="*/ 0 h 5585244"/>
              <a:gd name="connsiteX2" fmla="*/ 10719069 w 10719069"/>
              <a:gd name="connsiteY2" fmla="*/ 5083722 h 5585244"/>
              <a:gd name="connsiteX3" fmla="*/ 10217547 w 10719069"/>
              <a:gd name="connsiteY3" fmla="*/ 5585244 h 5585244"/>
              <a:gd name="connsiteX4" fmla="*/ 0 w 10719069"/>
              <a:gd name="connsiteY4" fmla="*/ 5585244 h 558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069" h="5585244">
                <a:moveTo>
                  <a:pt x="0" y="0"/>
                </a:moveTo>
                <a:lnTo>
                  <a:pt x="10719069" y="0"/>
                </a:lnTo>
                <a:lnTo>
                  <a:pt x="10719069" y="5083722"/>
                </a:lnTo>
                <a:cubicBezTo>
                  <a:pt x="10719069" y="5360705"/>
                  <a:pt x="10494530" y="5585244"/>
                  <a:pt x="10217547" y="5585244"/>
                </a:cubicBezTo>
                <a:lnTo>
                  <a:pt x="0" y="5585244"/>
                </a:lnTo>
                <a:close/>
              </a:path>
            </a:pathLst>
          </a:cu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1515" y="606176"/>
            <a:ext cx="9339210" cy="4530904"/>
          </a:xfrm>
        </p:spPr>
        <p:txBody>
          <a:bodyPr anchor="b">
            <a:normAutofit/>
          </a:bodyPr>
          <a:lstStyle>
            <a:lvl1pPr marL="0" indent="0">
              <a:lnSpc>
                <a:spcPct val="90000"/>
              </a:lnSpc>
              <a:buNone/>
              <a:defRPr sz="6600" b="0" cap="none" baseline="0">
                <a:solidFill>
                  <a:schemeClr val="accent1"/>
                </a:solidFill>
              </a:defRPr>
            </a:lvl1pPr>
            <a:lvl2pPr marL="228600" indent="0">
              <a:lnSpc>
                <a:spcPct val="90000"/>
              </a:lnSpc>
              <a:buNone/>
              <a:defRPr sz="6000" b="0" cap="none" baseline="0">
                <a:solidFill>
                  <a:schemeClr val="accent1"/>
                </a:solidFill>
              </a:defRPr>
            </a:lvl2pPr>
            <a:lvl3pPr marL="457200" indent="0">
              <a:lnSpc>
                <a:spcPct val="90000"/>
              </a:lnSpc>
              <a:buNone/>
              <a:defRPr sz="5400" b="0" cap="none" baseline="0">
                <a:solidFill>
                  <a:schemeClr val="accent1"/>
                </a:solidFill>
              </a:defRPr>
            </a:lvl3pPr>
            <a:lvl4pPr marL="685800" indent="0">
              <a:lnSpc>
                <a:spcPct val="90000"/>
              </a:lnSpc>
              <a:buNone/>
              <a:defRPr sz="4800" b="0" cap="none" baseline="0">
                <a:solidFill>
                  <a:schemeClr val="accent1"/>
                </a:solidFill>
              </a:defRPr>
            </a:lvl4pPr>
            <a:lvl5pPr marL="914400" indent="0">
              <a:lnSpc>
                <a:spcPct val="90000"/>
              </a:lnSpc>
              <a:buNone/>
              <a:defRPr sz="4400" b="0" cap="none"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36662946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43032" y="1455226"/>
            <a:ext cx="10152770" cy="5065498"/>
          </a:xfrm>
        </p:spPr>
        <p:txBody>
          <a:bodyPr anchor="b">
            <a:normAutofit/>
          </a:bodyPr>
          <a:lstStyle>
            <a:lvl1pPr marL="0" indent="0">
              <a:lnSpc>
                <a:spcPct val="90000"/>
              </a:lnSpc>
              <a:buNone/>
              <a:defRPr sz="7200" b="0">
                <a:solidFill>
                  <a:schemeClr val="accent1"/>
                </a:solidFill>
              </a:defRPr>
            </a:lvl1pPr>
            <a:lvl2pPr marL="228600" indent="0">
              <a:lnSpc>
                <a:spcPct val="90000"/>
              </a:lnSpc>
              <a:buNone/>
              <a:defRPr sz="6600" b="0">
                <a:solidFill>
                  <a:schemeClr val="accent1"/>
                </a:solidFill>
              </a:defRPr>
            </a:lvl2pPr>
            <a:lvl3pPr marL="457200" indent="0">
              <a:lnSpc>
                <a:spcPct val="90000"/>
              </a:lnSpc>
              <a:buNone/>
              <a:defRPr sz="6000" b="0">
                <a:solidFill>
                  <a:schemeClr val="accent1"/>
                </a:solidFill>
              </a:defRPr>
            </a:lvl3pPr>
            <a:lvl4pPr marL="685800" indent="0">
              <a:lnSpc>
                <a:spcPct val="90000"/>
              </a:lnSpc>
              <a:buNone/>
              <a:defRPr sz="5400" b="0">
                <a:solidFill>
                  <a:schemeClr val="accent1"/>
                </a:solidFill>
              </a:defRPr>
            </a:lvl4pPr>
            <a:lvl5pPr marL="914400" indent="0">
              <a:lnSpc>
                <a:spcPct val="9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68096" y="64008"/>
            <a:ext cx="3569995" cy="338328"/>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91411" y="64008"/>
            <a:ext cx="1612674" cy="338328"/>
          </a:xfrm>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55096" y="64008"/>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1609952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72090" y="5085707"/>
            <a:ext cx="8968722" cy="757309"/>
          </a:xfrm>
        </p:spPr>
        <p:txBody>
          <a:bodyPr anchor="t">
            <a:normAutofit/>
          </a:bodyPr>
          <a:lstStyle>
            <a:lvl1pP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821934"/>
            <a:ext cx="8968722" cy="3742116"/>
          </a:xfrm>
        </p:spPr>
        <p:txBody>
          <a:bodyPr anchor="t">
            <a:normAutofit/>
          </a:bodyPr>
          <a:lstStyle>
            <a:lvl1pPr marL="137160" indent="-137160">
              <a:lnSpc>
                <a:spcPct val="100000"/>
              </a:lnSpc>
              <a:spcBef>
                <a:spcPts val="0"/>
              </a:spcBef>
              <a:buNone/>
              <a:defRPr sz="60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379772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8096" y="4965192"/>
            <a:ext cx="9841113" cy="1289304"/>
          </a:xfrm>
        </p:spPr>
        <p:txBody>
          <a:bodyPr anchor="ctr">
            <a:normAutofit/>
          </a:bodyPr>
          <a:lstStyle>
            <a:lvl1pPr>
              <a:lnSpc>
                <a:spcPct val="120000"/>
              </a:lnSpc>
              <a:defRPr sz="18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729465"/>
            <a:ext cx="9841114" cy="3814182"/>
          </a:xfrm>
        </p:spPr>
        <p:txBody>
          <a:bodyPr anchor="t">
            <a:normAutofit/>
          </a:bodyPr>
          <a:lstStyle>
            <a:lvl1pPr marL="137160" indent="-137160">
              <a:lnSpc>
                <a:spcPct val="90000"/>
              </a:lnSpc>
              <a:spcBef>
                <a:spcPts val="0"/>
              </a:spcBef>
              <a:buNone/>
              <a:defRPr sz="7200">
                <a:solidFill>
                  <a:schemeClr val="accent1"/>
                </a:solidFill>
                <a:latin typeface="+mj-lt"/>
              </a:defRPr>
            </a:lvl1pPr>
          </a:lstStyle>
          <a:p>
            <a:pPr lvl="0"/>
            <a:r>
              <a:rPr lang="en-US" dirty="0"/>
              <a:t>Click to edit Quote</a:t>
            </a:r>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501234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43F357D-01B6-71AD-58FF-26C551B8D6F8}"/>
              </a:ext>
              <a:ext uri="{C183D7F6-B498-43B3-948B-1728B52AA6E4}">
                <adec:decorative xmlns:adec="http://schemas.microsoft.com/office/drawing/2017/decorative" val="1"/>
              </a:ext>
            </a:extLst>
          </p:cNvPr>
          <p:cNvSpPr/>
          <p:nvPr/>
        </p:nvSpPr>
        <p:spPr>
          <a:xfrm rot="10800000" flipH="1">
            <a:off x="0" y="5155892"/>
            <a:ext cx="11468099" cy="1702107"/>
          </a:xfrm>
          <a:custGeom>
            <a:avLst/>
            <a:gdLst>
              <a:gd name="connsiteX0" fmla="*/ 10322569 w 10836926"/>
              <a:gd name="connsiteY0" fmla="*/ 1702107 h 1702107"/>
              <a:gd name="connsiteX1" fmla="*/ 0 w 10836926"/>
              <a:gd name="connsiteY1" fmla="*/ 1702107 h 1702107"/>
              <a:gd name="connsiteX2" fmla="*/ 0 w 10836926"/>
              <a:gd name="connsiteY2" fmla="*/ 0 h 1702107"/>
              <a:gd name="connsiteX3" fmla="*/ 10836926 w 10836926"/>
              <a:gd name="connsiteY3" fmla="*/ 0 h 1702107"/>
              <a:gd name="connsiteX4" fmla="*/ 10836926 w 10836926"/>
              <a:gd name="connsiteY4" fmla="*/ 1187751 h 1702107"/>
              <a:gd name="connsiteX5" fmla="*/ 10322569 w 10836926"/>
              <a:gd name="connsiteY5" fmla="*/ 1702107 h 1702107"/>
              <a:gd name="connsiteX0" fmla="*/ 10990389 w 11504746"/>
              <a:gd name="connsiteY0" fmla="*/ 1702107 h 1702107"/>
              <a:gd name="connsiteX1" fmla="*/ 0 w 11504746"/>
              <a:gd name="connsiteY1" fmla="*/ 1702107 h 1702107"/>
              <a:gd name="connsiteX2" fmla="*/ 667820 w 11504746"/>
              <a:gd name="connsiteY2" fmla="*/ 0 h 1702107"/>
              <a:gd name="connsiteX3" fmla="*/ 11504746 w 11504746"/>
              <a:gd name="connsiteY3" fmla="*/ 0 h 1702107"/>
              <a:gd name="connsiteX4" fmla="*/ 11504746 w 11504746"/>
              <a:gd name="connsiteY4" fmla="*/ 1187751 h 1702107"/>
              <a:gd name="connsiteX5" fmla="*/ 10990389 w 11504746"/>
              <a:gd name="connsiteY5" fmla="*/ 1702107 h 1702107"/>
              <a:gd name="connsiteX0" fmla="*/ 11000664 w 11515021"/>
              <a:gd name="connsiteY0" fmla="*/ 1702107 h 1702107"/>
              <a:gd name="connsiteX1" fmla="*/ 10275 w 11515021"/>
              <a:gd name="connsiteY1" fmla="*/ 1702107 h 1702107"/>
              <a:gd name="connsiteX2" fmla="*/ 0 w 11515021"/>
              <a:gd name="connsiteY2" fmla="*/ 0 h 1702107"/>
              <a:gd name="connsiteX3" fmla="*/ 11515021 w 11515021"/>
              <a:gd name="connsiteY3" fmla="*/ 0 h 1702107"/>
              <a:gd name="connsiteX4" fmla="*/ 11515021 w 11515021"/>
              <a:gd name="connsiteY4" fmla="*/ 1187751 h 1702107"/>
              <a:gd name="connsiteX5" fmla="*/ 11000664 w 11515021"/>
              <a:gd name="connsiteY5" fmla="*/ 1702107 h 170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5021" h="1702107">
                <a:moveTo>
                  <a:pt x="11000664" y="1702107"/>
                </a:moveTo>
                <a:lnTo>
                  <a:pt x="10275" y="1702107"/>
                </a:lnTo>
                <a:lnTo>
                  <a:pt x="0" y="0"/>
                </a:lnTo>
                <a:lnTo>
                  <a:pt x="11515021" y="0"/>
                </a:lnTo>
                <a:lnTo>
                  <a:pt x="11515021" y="1187751"/>
                </a:lnTo>
                <a:cubicBezTo>
                  <a:pt x="11515021" y="1471822"/>
                  <a:pt x="11284736" y="1702107"/>
                  <a:pt x="11000664" y="1702107"/>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438381" y="5684948"/>
            <a:ext cx="9060691" cy="643997"/>
          </a:xfrm>
        </p:spPr>
        <p:txBody>
          <a:bodyPr anchor="ctr">
            <a:normAutofit/>
          </a:bodyPr>
          <a:lstStyle>
            <a:lvl1pPr algn="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38382" y="1027417"/>
            <a:ext cx="9060691" cy="3400746"/>
          </a:xfrm>
        </p:spPr>
        <p:txBody>
          <a:bodyPr anchor="ctr">
            <a:normAutofit/>
          </a:bodyPr>
          <a:lstStyle>
            <a:lvl1pPr marL="137160" indent="-137160">
              <a:lnSpc>
                <a:spcPct val="100000"/>
              </a:lnSpc>
              <a:spcBef>
                <a:spcPts val="0"/>
              </a:spcBef>
              <a:buNone/>
              <a:defRPr sz="48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772090" y="6382512"/>
            <a:ext cx="2816835" cy="338328"/>
          </a:xfrm>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a:xfrm>
            <a:off x="9291411" y="6382512"/>
            <a:ext cx="1612674" cy="338328"/>
          </a:xfrm>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408640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A777E9-52E4-B265-D19D-C179BB567FA4}"/>
              </a:ext>
              <a:ext uri="{C183D7F6-B498-43B3-948B-1728B52AA6E4}">
                <adec:decorative xmlns:adec="http://schemas.microsoft.com/office/drawing/2017/decorative" val="1"/>
              </a:ext>
            </a:extLst>
          </p:cNvPr>
          <p:cNvSpPr/>
          <p:nvPr/>
        </p:nvSpPr>
        <p:spPr>
          <a:xfrm>
            <a:off x="0" y="0"/>
            <a:ext cx="10809939" cy="5148072"/>
          </a:xfrm>
          <a:custGeom>
            <a:avLst/>
            <a:gdLst>
              <a:gd name="connsiteX0" fmla="*/ 0 w 10809939"/>
              <a:gd name="connsiteY0" fmla="*/ 0 h 5148072"/>
              <a:gd name="connsiteX1" fmla="*/ 10809939 w 10809939"/>
              <a:gd name="connsiteY1" fmla="*/ 0 h 5148072"/>
              <a:gd name="connsiteX2" fmla="*/ 10809939 w 10809939"/>
              <a:gd name="connsiteY2" fmla="*/ 4646550 h 5148072"/>
              <a:gd name="connsiteX3" fmla="*/ 10308417 w 10809939"/>
              <a:gd name="connsiteY3" fmla="*/ 5148072 h 5148072"/>
              <a:gd name="connsiteX4" fmla="*/ 0 w 10809939"/>
              <a:gd name="connsiteY4" fmla="*/ 5148072 h 5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148072">
                <a:moveTo>
                  <a:pt x="0" y="0"/>
                </a:moveTo>
                <a:lnTo>
                  <a:pt x="10809939" y="0"/>
                </a:lnTo>
                <a:lnTo>
                  <a:pt x="10809939" y="4646550"/>
                </a:lnTo>
                <a:cubicBezTo>
                  <a:pt x="10809939" y="4923533"/>
                  <a:pt x="10585400" y="5148072"/>
                  <a:pt x="10308417" y="5148072"/>
                </a:cubicBezTo>
                <a:lnTo>
                  <a:pt x="0" y="514807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7446" y="5518298"/>
            <a:ext cx="8964384" cy="818494"/>
          </a:xfrm>
        </p:spPr>
        <p:txBody>
          <a:bodyPr anchor="ctr">
            <a:normAutofit/>
          </a:bodyPr>
          <a:lstStyle>
            <a:lvl1pPr>
              <a:lnSpc>
                <a:spcPct val="120000"/>
              </a:lnSpc>
              <a:defRPr sz="16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7446" y="750013"/>
            <a:ext cx="8733760" cy="3800721"/>
          </a:xfrm>
        </p:spPr>
        <p:txBody>
          <a:bodyPr anchor="t">
            <a:normAutofit/>
          </a:bodyPr>
          <a:lstStyle>
            <a:lvl1pPr marL="137160" indent="-137160">
              <a:lnSpc>
                <a:spcPct val="90000"/>
              </a:lnSpc>
              <a:spcBef>
                <a:spcPts val="0"/>
              </a:spcBef>
              <a:buNone/>
              <a:defRPr sz="5400">
                <a:solidFill>
                  <a:schemeClr val="accent1"/>
                </a:solidFill>
                <a:latin typeface="+mj-lt"/>
              </a:defRPr>
            </a:lvl1pPr>
          </a:lstStyle>
          <a:p>
            <a:pPr lvl="0"/>
            <a:r>
              <a:rPr lang="en-US" dirty="0"/>
              <a:t>Click to edit Quote</a:t>
            </a:r>
          </a:p>
        </p:txBody>
      </p:sp>
      <p:sp>
        <p:nvSpPr>
          <p:cNvPr id="8" name="Footer Placeholder 7">
            <a:extLst>
              <a:ext uri="{FF2B5EF4-FFF2-40B4-BE49-F238E27FC236}">
                <a16:creationId xmlns:a16="http://schemas.microsoft.com/office/drawing/2014/main" id="{0AD62116-941C-252B-AE63-2508CE4FDD3F}"/>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23547C88-24DC-DAA1-274D-9715ED6805BC}"/>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6/26/2026</a:t>
            </a:fld>
            <a:endParaRPr lang="en-US"/>
          </a:p>
        </p:txBody>
      </p:sp>
      <p:sp>
        <p:nvSpPr>
          <p:cNvPr id="10" name="Slide Number Placeholder 9">
            <a:extLst>
              <a:ext uri="{FF2B5EF4-FFF2-40B4-BE49-F238E27FC236}">
                <a16:creationId xmlns:a16="http://schemas.microsoft.com/office/drawing/2014/main" id="{A921AC9D-428B-1CE3-499F-1289B47D5F26}"/>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68216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3">
            <a:alpha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EBA2EC2-4347-818C-501D-DEEA9CA0D13B}"/>
              </a:ext>
              <a:ext uri="{C183D7F6-B498-43B3-948B-1728B52AA6E4}">
                <adec:decorative xmlns:adec="http://schemas.microsoft.com/office/drawing/2017/decorative" val="1"/>
              </a:ext>
            </a:extLst>
          </p:cNvPr>
          <p:cNvSpPr/>
          <p:nvPr/>
        </p:nvSpPr>
        <p:spPr>
          <a:xfrm>
            <a:off x="1" y="-1"/>
            <a:ext cx="10809939" cy="5617255"/>
          </a:xfrm>
          <a:custGeom>
            <a:avLst/>
            <a:gdLst>
              <a:gd name="connsiteX0" fmla="*/ 0 w 10809939"/>
              <a:gd name="connsiteY0" fmla="*/ 0 h 5638868"/>
              <a:gd name="connsiteX1" fmla="*/ 10809939 w 10809939"/>
              <a:gd name="connsiteY1" fmla="*/ 0 h 5638868"/>
              <a:gd name="connsiteX2" fmla="*/ 10809939 w 10809939"/>
              <a:gd name="connsiteY2" fmla="*/ 5116914 h 5638868"/>
              <a:gd name="connsiteX3" fmla="*/ 10287986 w 10809939"/>
              <a:gd name="connsiteY3" fmla="*/ 5638868 h 5638868"/>
              <a:gd name="connsiteX4" fmla="*/ 0 w 10809939"/>
              <a:gd name="connsiteY4" fmla="*/ 5638868 h 56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638868">
                <a:moveTo>
                  <a:pt x="0" y="0"/>
                </a:moveTo>
                <a:lnTo>
                  <a:pt x="10809939" y="0"/>
                </a:lnTo>
                <a:lnTo>
                  <a:pt x="10809939" y="5116914"/>
                </a:lnTo>
                <a:cubicBezTo>
                  <a:pt x="10809939" y="5405181"/>
                  <a:pt x="10576253" y="5638868"/>
                  <a:pt x="10287986" y="5638868"/>
                </a:cubicBezTo>
                <a:lnTo>
                  <a:pt x="0" y="5638868"/>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2876765" y="4318612"/>
            <a:ext cx="7364515" cy="996027"/>
          </a:xfrm>
        </p:spPr>
        <p:txBody>
          <a:bodyPr anchor="ctr">
            <a:normAutofit/>
          </a:bodyPr>
          <a:lstStyle>
            <a:lvl1pPr algn="r">
              <a:lnSpc>
                <a:spcPct val="120000"/>
              </a:lnSpc>
              <a:defRPr sz="1400" b="0" spc="10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8096" y="647700"/>
            <a:ext cx="9473184" cy="3670912"/>
          </a:xfrm>
        </p:spPr>
        <p:txBody>
          <a:bodyPr anchor="ctr">
            <a:normAutofit/>
          </a:bodyPr>
          <a:lstStyle>
            <a:lvl1pPr marL="137160" indent="-137160">
              <a:lnSpc>
                <a:spcPct val="100000"/>
              </a:lnSpc>
              <a:spcBef>
                <a:spcPts val="0"/>
              </a:spcBef>
              <a:buNone/>
              <a:defRPr sz="4800">
                <a:solidFill>
                  <a:schemeClr val="tx2"/>
                </a:solidFill>
                <a:latin typeface="+mj-lt"/>
              </a:defRPr>
            </a:lvl1pPr>
          </a:lstStyle>
          <a:p>
            <a:pPr lvl="0"/>
            <a:r>
              <a:rPr lang="en-US" dirty="0"/>
              <a:t>Click to edit Quote</a:t>
            </a:r>
          </a:p>
        </p:txBody>
      </p:sp>
      <p:sp>
        <p:nvSpPr>
          <p:cNvPr id="12" name="Footer Placeholder 11">
            <a:extLst>
              <a:ext uri="{FF2B5EF4-FFF2-40B4-BE49-F238E27FC236}">
                <a16:creationId xmlns:a16="http://schemas.microsoft.com/office/drawing/2014/main" id="{B68D110F-CED3-F33A-EDD7-57811187B5A8}"/>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1BE1F328-2362-9468-2593-BAF90BE9CEB0}"/>
              </a:ext>
            </a:extLst>
          </p:cNvPr>
          <p:cNvSpPr>
            <a:spLocks noGrp="1"/>
          </p:cNvSpPr>
          <p:nvPr>
            <p:ph type="dt" sz="half" idx="14"/>
          </p:nvPr>
        </p:nvSpPr>
        <p:spPr/>
        <p:txBody>
          <a:bodyPr/>
          <a:lstStyle/>
          <a:p>
            <a:fld id="{D7E3ECEC-7E7B-4FB9-BAE8-5C10F12795EA}" type="datetimeFigureOut">
              <a:rPr lang="en-US" smtClean="0"/>
              <a:t>6/26/2026</a:t>
            </a:fld>
            <a:endParaRPr lang="en-US"/>
          </a:p>
        </p:txBody>
      </p:sp>
      <p:sp>
        <p:nvSpPr>
          <p:cNvPr id="13" name="Slide Number Placeholder 12">
            <a:extLst>
              <a:ext uri="{FF2B5EF4-FFF2-40B4-BE49-F238E27FC236}">
                <a16:creationId xmlns:a16="http://schemas.microsoft.com/office/drawing/2014/main" id="{DADE9A5F-3A0A-29A6-E008-BCCF7C3761BD}"/>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24330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74908"/>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4B07B2D7-7718-3EA4-C727-BB98633A6739}"/>
              </a:ext>
            </a:extLst>
          </p:cNvPr>
          <p:cNvSpPr>
            <a:spLocks noGrp="1"/>
          </p:cNvSpPr>
          <p:nvPr>
            <p:ph sz="quarter" idx="15"/>
          </p:nvPr>
        </p:nvSpPr>
        <p:spPr>
          <a:xfrm>
            <a:off x="762000" y="1802352"/>
            <a:ext cx="5070020"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EB1D51A5-7ABE-E37E-E3A4-3AF4A8448510}"/>
              </a:ext>
            </a:extLst>
          </p:cNvPr>
          <p:cNvSpPr>
            <a:spLocks noGrp="1"/>
          </p:cNvSpPr>
          <p:nvPr>
            <p:ph sz="quarter" idx="16"/>
          </p:nvPr>
        </p:nvSpPr>
        <p:spPr>
          <a:xfrm>
            <a:off x="6394099" y="1802352"/>
            <a:ext cx="5070021"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92195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70626" y="822960"/>
            <a:ext cx="10697475" cy="550367"/>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65379"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E49B3C-8832-0263-2ACE-16444014FC2C}"/>
              </a:ext>
            </a:extLst>
          </p:cNvPr>
          <p:cNvSpPr>
            <a:spLocks noGrp="1"/>
          </p:cNvSpPr>
          <p:nvPr>
            <p:ph sz="quarter" idx="15"/>
          </p:nvPr>
        </p:nvSpPr>
        <p:spPr>
          <a:xfrm>
            <a:off x="765825" y="2020888"/>
            <a:ext cx="5086349"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F5D88C15-4359-3F27-9B17-CB9581414F72}"/>
              </a:ext>
            </a:extLst>
          </p:cNvPr>
          <p:cNvSpPr>
            <a:spLocks noGrp="1"/>
          </p:cNvSpPr>
          <p:nvPr>
            <p:ph sz="quarter" idx="16"/>
          </p:nvPr>
        </p:nvSpPr>
        <p:spPr>
          <a:xfrm>
            <a:off x="6381751" y="2020888"/>
            <a:ext cx="5086350"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432967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70626" y="822960"/>
            <a:ext cx="10698480" cy="82859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66478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6862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68096" y="822960"/>
            <a:ext cx="3195484" cy="1504164"/>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68096" y="2311121"/>
            <a:ext cx="3195484" cy="3784879"/>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99805" y="836762"/>
            <a:ext cx="6568296" cy="525923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05887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72091" y="822960"/>
            <a:ext cx="3041598" cy="1968931"/>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68096" y="3147059"/>
            <a:ext cx="3041597" cy="2762035"/>
          </a:xfrm>
        </p:spPr>
        <p:txBody>
          <a:bodyPr vert="horz" lIns="91440" tIns="45720" rIns="91440" bIns="45720" rtlCol="0" anchor="b">
            <a:normAutofit/>
          </a:bodyPr>
          <a:lstStyle>
            <a:lvl1pPr marL="0" indent="0">
              <a:buNone/>
              <a:defRPr lang="en-US" sz="1600" dirty="0"/>
            </a:lvl1pPr>
          </a:lstStyle>
          <a:p>
            <a:pPr lvl="0"/>
            <a:r>
              <a:rPr lang="en-US"/>
              <a:t>Click to edit Master text styles</a:t>
            </a:r>
          </a:p>
        </p:txBody>
      </p:sp>
      <p:sp>
        <p:nvSpPr>
          <p:cNvPr id="9" name="Picture Placeholder 9">
            <a:extLst>
              <a:ext uri="{FF2B5EF4-FFF2-40B4-BE49-F238E27FC236}">
                <a16:creationId xmlns:a16="http://schemas.microsoft.com/office/drawing/2014/main" id="{75E80A04-FEAF-D5E8-F208-D79F5852407B}"/>
              </a:ext>
            </a:extLst>
          </p:cNvPr>
          <p:cNvSpPr>
            <a:spLocks noGrp="1"/>
          </p:cNvSpPr>
          <p:nvPr>
            <p:ph type="pic" sz="quarter" idx="13" hasCustomPrompt="1"/>
          </p:nvPr>
        </p:nvSpPr>
        <p:spPr>
          <a:xfrm>
            <a:off x="4502844" y="0"/>
            <a:ext cx="7689157" cy="6096000"/>
          </a:xfrm>
          <a:custGeom>
            <a:avLst/>
            <a:gdLst>
              <a:gd name="connsiteX0" fmla="*/ 0 w 7689157"/>
              <a:gd name="connsiteY0" fmla="*/ 0 h 6096000"/>
              <a:gd name="connsiteX1" fmla="*/ 7689157 w 7689157"/>
              <a:gd name="connsiteY1" fmla="*/ 0 h 6096000"/>
              <a:gd name="connsiteX2" fmla="*/ 7689157 w 7689157"/>
              <a:gd name="connsiteY2" fmla="*/ 6096000 h 6096000"/>
              <a:gd name="connsiteX3" fmla="*/ 501522 w 7689157"/>
              <a:gd name="connsiteY3" fmla="*/ 6096000 h 6096000"/>
              <a:gd name="connsiteX4" fmla="*/ 0 w 768915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096000">
                <a:moveTo>
                  <a:pt x="0" y="0"/>
                </a:moveTo>
                <a:lnTo>
                  <a:pt x="7689157" y="0"/>
                </a:lnTo>
                <a:lnTo>
                  <a:pt x="7689157" y="6096000"/>
                </a:lnTo>
                <a:lnTo>
                  <a:pt x="501522" y="6096000"/>
                </a:lnTo>
                <a:cubicBezTo>
                  <a:pt x="224539" y="6096000"/>
                  <a:pt x="0" y="5871461"/>
                  <a:pt x="0" y="5594478"/>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5806473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492530-7F0F-7B93-27A9-6F68FAF54390}"/>
              </a:ext>
              <a:ext uri="{C183D7F6-B498-43B3-948B-1728B52AA6E4}">
                <adec:decorative xmlns:adec="http://schemas.microsoft.com/office/drawing/2017/decorative" val="1"/>
              </a:ext>
            </a:extLst>
          </p:cNvPr>
          <p:cNvSpPr/>
          <p:nvPr/>
        </p:nvSpPr>
        <p:spPr>
          <a:xfrm rot="10800000">
            <a:off x="762000" y="2880691"/>
            <a:ext cx="11430000" cy="3977309"/>
          </a:xfrm>
          <a:custGeom>
            <a:avLst/>
            <a:gdLst>
              <a:gd name="connsiteX0" fmla="*/ 0 w 11468099"/>
              <a:gd name="connsiteY0" fmla="*/ 4053508 h 4053508"/>
              <a:gd name="connsiteX1" fmla="*/ 10946146 w 11468099"/>
              <a:gd name="connsiteY1" fmla="*/ 4043963 h 4053508"/>
              <a:gd name="connsiteX2" fmla="*/ 11468099 w 11468099"/>
              <a:gd name="connsiteY2" fmla="*/ 3522009 h 4053508"/>
              <a:gd name="connsiteX3" fmla="*/ 11468099 w 11468099"/>
              <a:gd name="connsiteY3" fmla="*/ 0 h 4053508"/>
              <a:gd name="connsiteX4" fmla="*/ 0 w 11468099"/>
              <a:gd name="connsiteY4" fmla="*/ 0 h 4053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099" h="4053508">
                <a:moveTo>
                  <a:pt x="0" y="4053508"/>
                </a:moveTo>
                <a:lnTo>
                  <a:pt x="10946146" y="4043963"/>
                </a:lnTo>
                <a:cubicBezTo>
                  <a:pt x="11234413" y="4043963"/>
                  <a:pt x="11468099" y="3810276"/>
                  <a:pt x="11468099" y="3522009"/>
                </a:cubicBezTo>
                <a:lnTo>
                  <a:pt x="11468099" y="0"/>
                </a:lnTo>
                <a:lnTo>
                  <a:pt x="0" y="0"/>
                </a:ln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800" y="190500"/>
            <a:ext cx="11843238" cy="2057400"/>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398813" y="3505199"/>
            <a:ext cx="10044665" cy="266700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98813" y="6329172"/>
            <a:ext cx="2816835" cy="338328"/>
          </a:xfr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3643627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07D4EEB-8B0C-3EA1-DB0C-896A8F0C8621}"/>
              </a:ext>
              <a:ext uri="{C183D7F6-B498-43B3-948B-1728B52AA6E4}">
                <adec:decorative xmlns:adec="http://schemas.microsoft.com/office/drawing/2017/decorative" val="1"/>
              </a:ext>
            </a:extLst>
          </p:cNvPr>
          <p:cNvSpPr/>
          <p:nvPr/>
        </p:nvSpPr>
        <p:spPr>
          <a:xfrm rot="10800000">
            <a:off x="2677737" y="2952545"/>
            <a:ext cx="9514262" cy="3905455"/>
          </a:xfrm>
          <a:custGeom>
            <a:avLst/>
            <a:gdLst>
              <a:gd name="connsiteX0" fmla="*/ 0 w 9514262"/>
              <a:gd name="connsiteY0" fmla="*/ 3905455 h 3905455"/>
              <a:gd name="connsiteX1" fmla="*/ 0 w 9514262"/>
              <a:gd name="connsiteY1" fmla="*/ 0 h 3905455"/>
              <a:gd name="connsiteX2" fmla="*/ 9514262 w 9514262"/>
              <a:gd name="connsiteY2" fmla="*/ 0 h 3905455"/>
              <a:gd name="connsiteX3" fmla="*/ 9514262 w 9514262"/>
              <a:gd name="connsiteY3" fmla="*/ 3375660 h 3905455"/>
              <a:gd name="connsiteX4" fmla="*/ 8992309 w 9514262"/>
              <a:gd name="connsiteY4" fmla="*/ 3897614 h 390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4262" h="3905455">
                <a:moveTo>
                  <a:pt x="0" y="3905455"/>
                </a:moveTo>
                <a:lnTo>
                  <a:pt x="0" y="0"/>
                </a:lnTo>
                <a:lnTo>
                  <a:pt x="9514262" y="0"/>
                </a:lnTo>
                <a:lnTo>
                  <a:pt x="9514262" y="3375660"/>
                </a:lnTo>
                <a:cubicBezTo>
                  <a:pt x="9514262" y="3663927"/>
                  <a:pt x="9280576" y="3897614"/>
                  <a:pt x="8992309" y="3897614"/>
                </a:cubicBez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3373" y="190500"/>
            <a:ext cx="10573396" cy="2475644"/>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493213" y="3810000"/>
            <a:ext cx="6976154" cy="1676400"/>
          </a:xfr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235461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72090" y="825747"/>
            <a:ext cx="10696010" cy="61880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74654" y="1506872"/>
            <a:ext cx="10693446" cy="45891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72090" y="6329172"/>
            <a:ext cx="2816835" cy="338328"/>
          </a:xfrm>
          <a:prstGeom prst="rect">
            <a:avLst/>
          </a:prstGeom>
        </p:spPr>
        <p:txBody>
          <a:bodyPr vert="horz" lIns="91440" tIns="45720" rIns="91440" bIns="45720" rtlCol="0" anchor="ctr"/>
          <a:lstStyle>
            <a:lvl1pPr algn="l">
              <a:defRPr sz="750" cap="all" spc="0"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291411" y="6329172"/>
            <a:ext cx="1612674" cy="338328"/>
          </a:xfrm>
          <a:prstGeom prst="rect">
            <a:avLst/>
          </a:prstGeom>
        </p:spPr>
        <p:txBody>
          <a:bodyPr vert="horz" lIns="91440" tIns="45720" rIns="91440" bIns="45720" rtlCol="0" anchor="ctr"/>
          <a:lstStyle>
            <a:lvl1pPr algn="r">
              <a:defRPr sz="750">
                <a:solidFill>
                  <a:schemeClr val="tx1"/>
                </a:solidFill>
              </a:defRPr>
            </a:lvl1pPr>
          </a:lstStyle>
          <a:p>
            <a:fld id="{D7E3ECEC-7E7B-4FB9-BAE8-5C10F12795EA}" type="datetimeFigureOut">
              <a:rPr lang="en-US" smtClean="0"/>
              <a:t>6/26/2026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50742" y="6329172"/>
            <a:ext cx="457200" cy="338328"/>
          </a:xfrm>
          <a:prstGeom prst="rect">
            <a:avLst/>
          </a:prstGeom>
        </p:spPr>
        <p:txBody>
          <a:bodyPr vert="horz" lIns="91440" tIns="45720" rIns="91440" bIns="45720" rtlCol="0" anchor="ctr"/>
          <a:lstStyle>
            <a:lvl1pPr algn="r">
              <a:defRPr sz="750">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64449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500" b="0" kern="1200" cap="all"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000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286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572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0858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480">
          <p15:clr>
            <a:srgbClr val="F26B43"/>
          </p15:clr>
        </p15:guide>
        <p15:guide id="8" pos="7224">
          <p15:clr>
            <a:srgbClr val="F26B43"/>
          </p15:clr>
        </p15:guide>
        <p15:guide id="9" orient="horz" pos="3840">
          <p15:clr>
            <a:srgbClr val="F26B43"/>
          </p15:clr>
        </p15:guide>
        <p15:guide id="10" orient="horz" pos="2160">
          <p15:clr>
            <a:srgbClr val="F26B43"/>
          </p15:clr>
        </p15:guide>
        <p15:guide id="11"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www-formal.stanford.edu/jmc/whatisai/node1.html"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www.britannica.com/question/What-is-human-intelligence"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88BBA-385E-B100-D3B2-83F877ED7B13}"/>
              </a:ext>
            </a:extLst>
          </p:cNvPr>
          <p:cNvSpPr>
            <a:spLocks noGrp="1"/>
          </p:cNvSpPr>
          <p:nvPr>
            <p:ph type="ctrTitle"/>
          </p:nvPr>
        </p:nvSpPr>
        <p:spPr>
          <a:xfrm>
            <a:off x="228600" y="457200"/>
            <a:ext cx="6400800" cy="2667000"/>
          </a:xfrm>
        </p:spPr>
        <p:txBody>
          <a:bodyPr>
            <a:normAutofit/>
          </a:bodyPr>
          <a:lstStyle/>
          <a:p>
            <a:r>
              <a:rPr lang="en-US" sz="6000" cap="none" dirty="0"/>
              <a:t>Artificial Intelligence</a:t>
            </a:r>
            <a:br>
              <a:rPr lang="en-US" sz="6000" cap="none" dirty="0"/>
            </a:br>
            <a:endParaRPr lang="en-US" sz="6000" cap="none" dirty="0"/>
          </a:p>
        </p:txBody>
      </p:sp>
      <p:sp>
        <p:nvSpPr>
          <p:cNvPr id="3" name="Subtitle 2">
            <a:extLst>
              <a:ext uri="{FF2B5EF4-FFF2-40B4-BE49-F238E27FC236}">
                <a16:creationId xmlns:a16="http://schemas.microsoft.com/office/drawing/2014/main" id="{D508797C-B534-8121-1EFA-68AC9E565808}"/>
              </a:ext>
            </a:extLst>
          </p:cNvPr>
          <p:cNvSpPr>
            <a:spLocks noGrp="1"/>
          </p:cNvSpPr>
          <p:nvPr>
            <p:ph type="subTitle" idx="1"/>
          </p:nvPr>
        </p:nvSpPr>
        <p:spPr>
          <a:xfrm>
            <a:off x="325281" y="3429000"/>
            <a:ext cx="4184904" cy="918015"/>
          </a:xfrm>
        </p:spPr>
        <p:txBody>
          <a:bodyPr/>
          <a:lstStyle/>
          <a:p>
            <a:r>
              <a:rPr lang="en-US" dirty="0"/>
              <a:t>Presented By: Gregory Wagonblast</a:t>
            </a:r>
          </a:p>
        </p:txBody>
      </p:sp>
      <p:pic>
        <p:nvPicPr>
          <p:cNvPr id="1026" name="Picture 2" descr="ESA - Earth from Space: Mississippi River Delta">
            <a:extLst>
              <a:ext uri="{FF2B5EF4-FFF2-40B4-BE49-F238E27FC236}">
                <a16:creationId xmlns:a16="http://schemas.microsoft.com/office/drawing/2014/main" id="{70DC37BA-F5E5-38E5-46BC-F3378F9E8D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1816" y="0"/>
            <a:ext cx="4510183" cy="612204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0D3D5BB-A39F-1245-F38A-8D8A8B4FFF4D}"/>
              </a:ext>
            </a:extLst>
          </p:cNvPr>
          <p:cNvSpPr txBox="1"/>
          <p:nvPr/>
        </p:nvSpPr>
        <p:spPr>
          <a:xfrm>
            <a:off x="286753" y="2377424"/>
            <a:ext cx="6284494" cy="1323439"/>
          </a:xfrm>
          <a:prstGeom prst="rect">
            <a:avLst/>
          </a:prstGeom>
          <a:noFill/>
        </p:spPr>
        <p:txBody>
          <a:bodyPr wrap="square">
            <a:spAutoFit/>
          </a:bodyPr>
          <a:lstStyle/>
          <a:p>
            <a:r>
              <a:rPr lang="en-US" sz="4000" cap="none" dirty="0"/>
              <a:t>Module 0</a:t>
            </a:r>
          </a:p>
          <a:p>
            <a:r>
              <a:rPr lang="en-US" sz="4000" dirty="0"/>
              <a:t>Intelligence</a:t>
            </a:r>
          </a:p>
        </p:txBody>
      </p:sp>
    </p:spTree>
    <p:extLst>
      <p:ext uri="{BB962C8B-B14F-4D97-AF65-F5344CB8AC3E}">
        <p14:creationId xmlns:p14="http://schemas.microsoft.com/office/powerpoint/2010/main" val="171634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60F8B7C-CE5B-2277-10C6-FD4A18ABA4D9}"/>
              </a:ext>
            </a:extLst>
          </p:cNvPr>
          <p:cNvSpPr txBox="1"/>
          <p:nvPr/>
        </p:nvSpPr>
        <p:spPr>
          <a:xfrm>
            <a:off x="3749090" y="228600"/>
            <a:ext cx="4693818" cy="984885"/>
          </a:xfrm>
          <a:prstGeom prst="rect">
            <a:avLst/>
          </a:prstGeom>
          <a:noFill/>
        </p:spPr>
        <p:txBody>
          <a:bodyPr wrap="square" rtlCol="0">
            <a:spAutoFit/>
          </a:bodyPr>
          <a:lstStyle/>
          <a:p>
            <a:pPr algn="ctr"/>
            <a:r>
              <a:rPr lang="en-US" sz="4000" dirty="0"/>
              <a:t>The Proposed Plan</a:t>
            </a:r>
            <a:br>
              <a:rPr lang="en-US" dirty="0"/>
            </a:br>
            <a:endParaRPr lang="en-US" dirty="0"/>
          </a:p>
        </p:txBody>
      </p:sp>
      <p:pic>
        <p:nvPicPr>
          <p:cNvPr id="4" name="Picture 3">
            <a:extLst>
              <a:ext uri="{FF2B5EF4-FFF2-40B4-BE49-F238E27FC236}">
                <a16:creationId xmlns:a16="http://schemas.microsoft.com/office/drawing/2014/main" id="{E29CA630-BE4E-B22A-6D8D-E571B635D1BD}"/>
              </a:ext>
            </a:extLst>
          </p:cNvPr>
          <p:cNvPicPr>
            <a:picLocks noChangeAspect="1"/>
          </p:cNvPicPr>
          <p:nvPr/>
        </p:nvPicPr>
        <p:blipFill>
          <a:blip r:embed="rId3"/>
          <a:stretch>
            <a:fillRect/>
          </a:stretch>
        </p:blipFill>
        <p:spPr>
          <a:xfrm>
            <a:off x="1041146" y="986465"/>
            <a:ext cx="10109705" cy="5843461"/>
          </a:xfrm>
          <a:prstGeom prst="rect">
            <a:avLst/>
          </a:prstGeom>
        </p:spPr>
      </p:pic>
    </p:spTree>
    <p:extLst>
      <p:ext uri="{BB962C8B-B14F-4D97-AF65-F5344CB8AC3E}">
        <p14:creationId xmlns:p14="http://schemas.microsoft.com/office/powerpoint/2010/main" val="571981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C2047053-05A7-1928-D857-D87CA5F24DF6}"/>
              </a:ext>
            </a:extLst>
          </p:cNvPr>
          <p:cNvSpPr>
            <a:spLocks noGrp="1"/>
          </p:cNvSpPr>
          <p:nvPr>
            <p:ph type="ctrTitle"/>
          </p:nvPr>
        </p:nvSpPr>
        <p:spPr>
          <a:xfrm>
            <a:off x="169606" y="1562100"/>
            <a:ext cx="9296400" cy="4800600"/>
          </a:xfrm>
        </p:spPr>
        <p:txBody>
          <a:bodyPr>
            <a:normAutofit fontScale="90000"/>
          </a:bodyPr>
          <a:lstStyle/>
          <a:p>
            <a:br>
              <a:rPr lang="en-US" sz="1600" dirty="0"/>
            </a:br>
            <a:r>
              <a:rPr lang="en-US" sz="1800" dirty="0"/>
              <a:t>Q. w</a:t>
            </a:r>
            <a:r>
              <a:rPr lang="en-US" sz="1800" cap="none" dirty="0"/>
              <a:t>hat is artificial intelligence? </a:t>
            </a:r>
            <a:br>
              <a:rPr lang="en-US" sz="1800" cap="none" dirty="0"/>
            </a:br>
            <a:br>
              <a:rPr lang="en-US" sz="1800" cap="none" dirty="0"/>
            </a:br>
            <a:r>
              <a:rPr lang="en-US" sz="1800" cap="none" dirty="0"/>
              <a:t>A. It is the science and engineering of making intelligent machines, especially intelligent computer programs. It is related to the similar task of using computers to understand human intelligence, but AI does not have to confine itself to methods that are biologically observable. </a:t>
            </a:r>
            <a:br>
              <a:rPr lang="en-US" sz="1800" cap="none" dirty="0"/>
            </a:br>
            <a:br>
              <a:rPr lang="en-US" sz="1800" cap="none" dirty="0"/>
            </a:br>
            <a:r>
              <a:rPr lang="en-US" sz="1800" cap="none" dirty="0"/>
              <a:t>Q. What is intelligence? </a:t>
            </a:r>
            <a:br>
              <a:rPr lang="en-US" sz="1800" cap="none" dirty="0"/>
            </a:br>
            <a:br>
              <a:rPr lang="en-US" sz="1800" cap="none" dirty="0"/>
            </a:br>
            <a:r>
              <a:rPr lang="en-US" sz="1800" cap="none" dirty="0"/>
              <a:t>A. Intelligence is the computational part of the ability to achieve goals in the world. Varying kinds and degrees of intelligence occur in people, many animals and some machines. </a:t>
            </a:r>
            <a:br>
              <a:rPr lang="en-US" sz="1800" cap="none" dirty="0"/>
            </a:br>
            <a:br>
              <a:rPr lang="en-US" sz="1800" cap="none" dirty="0"/>
            </a:br>
            <a:r>
              <a:rPr lang="en-US" sz="1800" cap="none" dirty="0"/>
              <a:t>Q. Isn't there a solid definition of intelligence that doesn't depend on relating it to human intelligence? </a:t>
            </a:r>
            <a:br>
              <a:rPr lang="en-US" sz="1800" cap="none" dirty="0"/>
            </a:br>
            <a:br>
              <a:rPr lang="en-US" sz="1800" cap="none" dirty="0"/>
            </a:br>
            <a:r>
              <a:rPr lang="en-US" sz="1800" cap="none" dirty="0"/>
              <a:t>A. Not yet. The problem is that we cannot yet characterize in general what kinds of computational procedures we want to call intelligent. We understand some of the mechanisms of intelligence and not others. </a:t>
            </a:r>
            <a:br>
              <a:rPr lang="en-US" sz="1600" cap="none" dirty="0"/>
            </a:br>
            <a:br>
              <a:rPr lang="en-US" sz="1600" cap="none" dirty="0">
                <a:solidFill>
                  <a:schemeClr val="tx1"/>
                </a:solidFill>
              </a:rPr>
            </a:br>
            <a:r>
              <a:rPr lang="en-US" sz="1600" i="1" cap="none" dirty="0">
                <a:solidFill>
                  <a:schemeClr val="tx1"/>
                </a:solidFill>
              </a:rPr>
              <a:t>Reference: </a:t>
            </a:r>
            <a:r>
              <a:rPr lang="en-US" sz="1600" cap="none" dirty="0">
                <a:solidFill>
                  <a:schemeClr val="tx1"/>
                </a:solidFill>
              </a:rPr>
              <a:t>McCarthy, J. (2007, November 12). </a:t>
            </a:r>
            <a:r>
              <a:rPr lang="en-US" sz="1600" i="1" cap="none" dirty="0">
                <a:solidFill>
                  <a:schemeClr val="tx1"/>
                </a:solidFill>
              </a:rPr>
              <a:t>What is artificial intelligence? Basic questions</a:t>
            </a:r>
            <a:r>
              <a:rPr lang="en-US" sz="1600" cap="none" dirty="0">
                <a:solidFill>
                  <a:schemeClr val="tx1"/>
                </a:solidFill>
              </a:rPr>
              <a:t>. Formal Reasoning Group, Stanford University. </a:t>
            </a:r>
            <a:r>
              <a:rPr lang="en-US" sz="1600" cap="none" dirty="0">
                <a:solidFill>
                  <a:schemeClr val="tx1"/>
                </a:solidFill>
                <a:hlinkClick r:id="rId3">
                  <a:extLst>
                    <a:ext uri="{A12FA001-AC4F-418D-AE19-62706E023703}">
                      <ahyp:hlinkClr xmlns:ahyp="http://schemas.microsoft.com/office/drawing/2018/hyperlinkcolor" val="tx"/>
                    </a:ext>
                  </a:extLst>
                </a:hlinkClick>
              </a:rPr>
              <a:t>http://www-formal.stanford.edu/jmc/whatisai/node1.html</a:t>
            </a:r>
            <a:endParaRPr lang="en-US" sz="1600" cap="none" dirty="0">
              <a:solidFill>
                <a:schemeClr val="tx1"/>
              </a:solidFill>
            </a:endParaRPr>
          </a:p>
        </p:txBody>
      </p:sp>
      <p:sp>
        <p:nvSpPr>
          <p:cNvPr id="4" name="TextBox 3">
            <a:extLst>
              <a:ext uri="{FF2B5EF4-FFF2-40B4-BE49-F238E27FC236}">
                <a16:creationId xmlns:a16="http://schemas.microsoft.com/office/drawing/2014/main" id="{8EC45BDA-E5A1-6364-E6B8-5765B24FF469}"/>
              </a:ext>
            </a:extLst>
          </p:cNvPr>
          <p:cNvSpPr txBox="1"/>
          <p:nvPr/>
        </p:nvSpPr>
        <p:spPr>
          <a:xfrm>
            <a:off x="2400300" y="228600"/>
            <a:ext cx="7498019" cy="1261884"/>
          </a:xfrm>
          <a:prstGeom prst="rect">
            <a:avLst/>
          </a:prstGeom>
          <a:noFill/>
        </p:spPr>
        <p:txBody>
          <a:bodyPr wrap="square" rtlCol="0">
            <a:spAutoFit/>
          </a:bodyPr>
          <a:lstStyle/>
          <a:p>
            <a:pPr algn="ctr"/>
            <a:r>
              <a:rPr lang="en-US" sz="4000" dirty="0"/>
              <a:t>What is Artificial Intelligence? </a:t>
            </a:r>
            <a:br>
              <a:rPr lang="en-US" dirty="0"/>
            </a:br>
            <a:br>
              <a:rPr lang="en-US" dirty="0"/>
            </a:br>
            <a:endParaRPr lang="en-US" dirty="0"/>
          </a:p>
        </p:txBody>
      </p:sp>
      <p:pic>
        <p:nvPicPr>
          <p:cNvPr id="1026" name="Picture 2">
            <a:extLst>
              <a:ext uri="{FF2B5EF4-FFF2-40B4-BE49-F238E27FC236}">
                <a16:creationId xmlns:a16="http://schemas.microsoft.com/office/drawing/2014/main" id="{E19610D1-490F-A8EA-4BD9-BDC5EB902C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1144" y="2238375"/>
            <a:ext cx="2381250" cy="34480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54A243C-AF36-90EA-60C3-0E94CF5326BF}"/>
              </a:ext>
            </a:extLst>
          </p:cNvPr>
          <p:cNvSpPr txBox="1"/>
          <p:nvPr/>
        </p:nvSpPr>
        <p:spPr>
          <a:xfrm>
            <a:off x="9898319" y="5791200"/>
            <a:ext cx="1866900" cy="369332"/>
          </a:xfrm>
          <a:prstGeom prst="rect">
            <a:avLst/>
          </a:prstGeom>
          <a:noFill/>
        </p:spPr>
        <p:txBody>
          <a:bodyPr wrap="square">
            <a:spAutoFit/>
          </a:bodyPr>
          <a:lstStyle/>
          <a:p>
            <a:r>
              <a:rPr lang="en-US" sz="1800" dirty="0"/>
              <a:t>John McCarthy</a:t>
            </a:r>
            <a:endParaRPr lang="en-US" dirty="0"/>
          </a:p>
        </p:txBody>
      </p:sp>
    </p:spTree>
    <p:extLst>
      <p:ext uri="{BB962C8B-B14F-4D97-AF65-F5344CB8AC3E}">
        <p14:creationId xmlns:p14="http://schemas.microsoft.com/office/powerpoint/2010/main" val="650875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91B35B-B425-B53C-9318-9950FD503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5021" y="0"/>
            <a:ext cx="8461957" cy="6858000"/>
          </a:xfrm>
          <a:prstGeom prst="rect">
            <a:avLst/>
          </a:prstGeom>
        </p:spPr>
      </p:pic>
    </p:spTree>
    <p:extLst>
      <p:ext uri="{BB962C8B-B14F-4D97-AF65-F5344CB8AC3E}">
        <p14:creationId xmlns:p14="http://schemas.microsoft.com/office/powerpoint/2010/main" val="433187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2B681-2BBC-E551-4814-67A2442060AE}"/>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123E1C1F-1835-E81C-6CFD-DDE21B07D32C}"/>
              </a:ext>
            </a:extLst>
          </p:cNvPr>
          <p:cNvSpPr>
            <a:spLocks noGrp="1"/>
          </p:cNvSpPr>
          <p:nvPr>
            <p:ph type="ctrTitle"/>
          </p:nvPr>
        </p:nvSpPr>
        <p:spPr>
          <a:xfrm>
            <a:off x="161003" y="1183456"/>
            <a:ext cx="11869994" cy="3009900"/>
          </a:xfrm>
        </p:spPr>
        <p:txBody>
          <a:bodyPr>
            <a:normAutofit/>
          </a:bodyPr>
          <a:lstStyle/>
          <a:p>
            <a:br>
              <a:rPr lang="en-US" sz="1600" cap="none" dirty="0"/>
            </a:br>
            <a:r>
              <a:rPr lang="en-US" sz="1800" cap="none" dirty="0"/>
              <a:t>Human intelligence is, generally speaking, the mental quality that consists of the abilities to learn from experience, adapt to new situations, understand and handle abstract concepts, and use knowledge to control an environment. However, the question of what, exactly, defines human intelligence is contested, particularly among researchers of artificial intelligence, though there is broader agreement that intelligence consists of multiple processes, rather than being a single ability.</a:t>
            </a:r>
            <a:br>
              <a:rPr lang="en-US" sz="1600" cap="none" dirty="0"/>
            </a:br>
            <a:br>
              <a:rPr lang="en-US" sz="1600" cap="none" dirty="0"/>
            </a:br>
            <a:r>
              <a:rPr lang="en-US" sz="1400" i="1" cap="none" dirty="0"/>
              <a:t>Reference: </a:t>
            </a:r>
            <a:r>
              <a:rPr lang="en-US" sz="1400" cap="none" dirty="0"/>
              <a:t>The Editors of Encyclopedia Britannica. (2025, March 13). </a:t>
            </a:r>
            <a:r>
              <a:rPr lang="en-US" sz="1400" i="1" cap="none" dirty="0"/>
              <a:t>What is human intelligence?</a:t>
            </a:r>
            <a:r>
              <a:rPr lang="en-US" sz="1400" cap="none" dirty="0"/>
              <a:t> Encyclopedia Britannica. </a:t>
            </a:r>
            <a:r>
              <a:rPr lang="en-US" sz="1400" cap="none" dirty="0">
                <a:solidFill>
                  <a:schemeClr val="tx1"/>
                </a:solidFill>
                <a:hlinkClick r:id="rId3">
                  <a:extLst>
                    <a:ext uri="{A12FA001-AC4F-418D-AE19-62706E023703}">
                      <ahyp:hlinkClr xmlns:ahyp="http://schemas.microsoft.com/office/drawing/2018/hyperlinkcolor" val="tx"/>
                    </a:ext>
                  </a:extLst>
                </a:hlinkClick>
              </a:rPr>
              <a:t>https://www.britannica.com/question/What-is-human-intelligence</a:t>
            </a:r>
            <a:endParaRPr lang="en-US" sz="1400" cap="none" dirty="0">
              <a:solidFill>
                <a:schemeClr val="tx1"/>
              </a:solidFill>
            </a:endParaRPr>
          </a:p>
        </p:txBody>
      </p:sp>
      <p:sp>
        <p:nvSpPr>
          <p:cNvPr id="4" name="TextBox 3">
            <a:extLst>
              <a:ext uri="{FF2B5EF4-FFF2-40B4-BE49-F238E27FC236}">
                <a16:creationId xmlns:a16="http://schemas.microsoft.com/office/drawing/2014/main" id="{A76F6211-D014-2F88-CED5-41233B40847F}"/>
              </a:ext>
            </a:extLst>
          </p:cNvPr>
          <p:cNvSpPr txBox="1"/>
          <p:nvPr/>
        </p:nvSpPr>
        <p:spPr>
          <a:xfrm>
            <a:off x="2563147" y="300216"/>
            <a:ext cx="7065706" cy="1261884"/>
          </a:xfrm>
          <a:prstGeom prst="rect">
            <a:avLst/>
          </a:prstGeom>
          <a:noFill/>
        </p:spPr>
        <p:txBody>
          <a:bodyPr wrap="square" rtlCol="0">
            <a:spAutoFit/>
          </a:bodyPr>
          <a:lstStyle/>
          <a:p>
            <a:pPr algn="ctr"/>
            <a:r>
              <a:rPr lang="en-US" sz="4000" dirty="0"/>
              <a:t>What is Human Intelligence? </a:t>
            </a:r>
            <a:br>
              <a:rPr lang="en-US" dirty="0"/>
            </a:br>
            <a:br>
              <a:rPr lang="en-US" dirty="0"/>
            </a:br>
            <a:endParaRPr lang="en-US" dirty="0"/>
          </a:p>
        </p:txBody>
      </p:sp>
      <p:pic>
        <p:nvPicPr>
          <p:cNvPr id="3074" name="Picture 2">
            <a:extLst>
              <a:ext uri="{FF2B5EF4-FFF2-40B4-BE49-F238E27FC236}">
                <a16:creationId xmlns:a16="http://schemas.microsoft.com/office/drawing/2014/main" id="{8AB6281F-709D-E018-1FD9-7F32F3D2EB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9394" y="3429000"/>
            <a:ext cx="2953211" cy="292958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245F85C-6667-4953-A46D-4C7C84E326A5}"/>
              </a:ext>
            </a:extLst>
          </p:cNvPr>
          <p:cNvSpPr txBox="1"/>
          <p:nvPr/>
        </p:nvSpPr>
        <p:spPr>
          <a:xfrm>
            <a:off x="2019300" y="6403895"/>
            <a:ext cx="8153400" cy="307777"/>
          </a:xfrm>
          <a:prstGeom prst="rect">
            <a:avLst/>
          </a:prstGeom>
          <a:noFill/>
        </p:spPr>
        <p:txBody>
          <a:bodyPr wrap="square">
            <a:spAutoFit/>
          </a:bodyPr>
          <a:lstStyle/>
          <a:p>
            <a:r>
              <a:rPr lang="en-US" sz="1400" i="1" dirty="0"/>
              <a:t>Reference: </a:t>
            </a:r>
            <a:r>
              <a:rPr lang="en-US" sz="1400" dirty="0"/>
              <a:t>Gardner, H. (1983). </a:t>
            </a:r>
            <a:r>
              <a:rPr lang="en-US" sz="1400" i="1" dirty="0"/>
              <a:t>Frames of mind: The theory of multiple intelligences</a:t>
            </a:r>
            <a:r>
              <a:rPr lang="en-US" sz="1400" dirty="0"/>
              <a:t>. Basic Books.</a:t>
            </a:r>
          </a:p>
        </p:txBody>
      </p:sp>
    </p:spTree>
    <p:extLst>
      <p:ext uri="{BB962C8B-B14F-4D97-AF65-F5344CB8AC3E}">
        <p14:creationId xmlns:p14="http://schemas.microsoft.com/office/powerpoint/2010/main" val="3476049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F6499-2F11-195F-A0BE-75B1D40C9F2B}"/>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4EEB0D50-E067-B5E6-C929-0763265BD0E5}"/>
              </a:ext>
            </a:extLst>
          </p:cNvPr>
          <p:cNvSpPr>
            <a:spLocks noGrp="1"/>
          </p:cNvSpPr>
          <p:nvPr>
            <p:ph type="ctrTitle"/>
          </p:nvPr>
        </p:nvSpPr>
        <p:spPr>
          <a:xfrm>
            <a:off x="161002" y="1183456"/>
            <a:ext cx="11954797" cy="1940744"/>
          </a:xfrm>
        </p:spPr>
        <p:txBody>
          <a:bodyPr>
            <a:normAutofit/>
          </a:bodyPr>
          <a:lstStyle/>
          <a:p>
            <a:br>
              <a:rPr lang="en-US" sz="1600" cap="none" dirty="0"/>
            </a:br>
            <a:r>
              <a:rPr lang="en-US" sz="1800" cap="none" dirty="0"/>
              <a:t>Artificial Intelligence (AI), broadly (and somewhat circularly) defined, is concerned with intelligent behavior in artifacts. Intelligent behavior, in turn, involves perception, reasoning, learning, communicating, and acting in complex environments.</a:t>
            </a:r>
            <a:br>
              <a:rPr lang="en-US" sz="1600" dirty="0"/>
            </a:br>
            <a:br>
              <a:rPr lang="en-US" sz="1600" cap="none" dirty="0"/>
            </a:br>
            <a:br>
              <a:rPr lang="en-US" sz="1600" cap="none" dirty="0"/>
            </a:br>
            <a:r>
              <a:rPr lang="en-US" sz="1400" i="1" cap="none" dirty="0"/>
              <a:t>Reference: </a:t>
            </a:r>
            <a:r>
              <a:rPr lang="en-US" sz="1400" cap="none" dirty="0"/>
              <a:t>Nilsson, N. J. (1998). </a:t>
            </a:r>
            <a:r>
              <a:rPr lang="en-US" sz="1400" i="1" cap="none" dirty="0"/>
              <a:t>Artificial intelligence: A new synthesis</a:t>
            </a:r>
            <a:r>
              <a:rPr lang="en-US" sz="1400" cap="none" dirty="0"/>
              <a:t>. Morgan Kaufmann Publishers.</a:t>
            </a:r>
            <a:endParaRPr lang="en-US" sz="1400" cap="none" dirty="0">
              <a:solidFill>
                <a:schemeClr val="tx1"/>
              </a:solidFill>
            </a:endParaRPr>
          </a:p>
        </p:txBody>
      </p:sp>
      <p:sp>
        <p:nvSpPr>
          <p:cNvPr id="4" name="TextBox 3">
            <a:extLst>
              <a:ext uri="{FF2B5EF4-FFF2-40B4-BE49-F238E27FC236}">
                <a16:creationId xmlns:a16="http://schemas.microsoft.com/office/drawing/2014/main" id="{B0A4C537-6950-9CCB-5038-7ED1115011D7}"/>
              </a:ext>
            </a:extLst>
          </p:cNvPr>
          <p:cNvSpPr txBox="1"/>
          <p:nvPr/>
        </p:nvSpPr>
        <p:spPr>
          <a:xfrm>
            <a:off x="2563147" y="300216"/>
            <a:ext cx="7065706" cy="1261884"/>
          </a:xfrm>
          <a:prstGeom prst="rect">
            <a:avLst/>
          </a:prstGeom>
          <a:noFill/>
        </p:spPr>
        <p:txBody>
          <a:bodyPr wrap="square" rtlCol="0">
            <a:spAutoFit/>
          </a:bodyPr>
          <a:lstStyle/>
          <a:p>
            <a:r>
              <a:rPr lang="en-US" sz="4000" dirty="0"/>
              <a:t>What is Intelligent Behavior? </a:t>
            </a:r>
            <a:br>
              <a:rPr lang="en-US" dirty="0"/>
            </a:br>
            <a:br>
              <a:rPr lang="en-US" dirty="0"/>
            </a:br>
            <a:endParaRPr lang="en-US" dirty="0"/>
          </a:p>
        </p:txBody>
      </p:sp>
      <p:pic>
        <p:nvPicPr>
          <p:cNvPr id="2050" name="Picture 2">
            <a:extLst>
              <a:ext uri="{FF2B5EF4-FFF2-40B4-BE49-F238E27FC236}">
                <a16:creationId xmlns:a16="http://schemas.microsoft.com/office/drawing/2014/main" id="{5F063A37-3D35-0E4D-A504-93CA5857D2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7603" y="3243012"/>
            <a:ext cx="2381250" cy="25336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76870B7-6758-7748-1980-E6E5E430F045}"/>
              </a:ext>
            </a:extLst>
          </p:cNvPr>
          <p:cNvSpPr txBox="1"/>
          <p:nvPr/>
        </p:nvSpPr>
        <p:spPr>
          <a:xfrm>
            <a:off x="7431957" y="6003786"/>
            <a:ext cx="2012541" cy="369332"/>
          </a:xfrm>
          <a:prstGeom prst="rect">
            <a:avLst/>
          </a:prstGeom>
          <a:noFill/>
        </p:spPr>
        <p:txBody>
          <a:bodyPr wrap="square">
            <a:spAutoFit/>
          </a:bodyPr>
          <a:lstStyle/>
          <a:p>
            <a:r>
              <a:rPr lang="en-US" sz="1800" dirty="0"/>
              <a:t>Nils John Nilsson</a:t>
            </a:r>
            <a:endParaRPr lang="en-US" dirty="0"/>
          </a:p>
        </p:txBody>
      </p:sp>
      <p:pic>
        <p:nvPicPr>
          <p:cNvPr id="2052" name="Picture 4">
            <a:extLst>
              <a:ext uri="{FF2B5EF4-FFF2-40B4-BE49-F238E27FC236}">
                <a16:creationId xmlns:a16="http://schemas.microsoft.com/office/drawing/2014/main" id="{097A3BEF-4419-B259-868E-10D93D256B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3062037"/>
            <a:ext cx="1255430" cy="28956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4EE63B2-F129-DD1B-756B-6CE974C104C8}"/>
              </a:ext>
            </a:extLst>
          </p:cNvPr>
          <p:cNvSpPr txBox="1"/>
          <p:nvPr/>
        </p:nvSpPr>
        <p:spPr>
          <a:xfrm>
            <a:off x="2943979" y="6024230"/>
            <a:ext cx="1006271" cy="369332"/>
          </a:xfrm>
          <a:prstGeom prst="rect">
            <a:avLst/>
          </a:prstGeom>
          <a:noFill/>
        </p:spPr>
        <p:txBody>
          <a:bodyPr wrap="square">
            <a:spAutoFit/>
          </a:bodyPr>
          <a:lstStyle/>
          <a:p>
            <a:r>
              <a:rPr lang="en-US" sz="1800" dirty="0"/>
              <a:t>Shakey</a:t>
            </a:r>
            <a:endParaRPr lang="en-US" dirty="0"/>
          </a:p>
        </p:txBody>
      </p:sp>
    </p:spTree>
    <p:extLst>
      <p:ext uri="{BB962C8B-B14F-4D97-AF65-F5344CB8AC3E}">
        <p14:creationId xmlns:p14="http://schemas.microsoft.com/office/powerpoint/2010/main" val="190093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BB8720-AB20-CD67-1554-683E8F256094}"/>
              </a:ext>
            </a:extLst>
          </p:cNvPr>
          <p:cNvPicPr>
            <a:picLocks noChangeAspect="1"/>
          </p:cNvPicPr>
          <p:nvPr/>
        </p:nvPicPr>
        <p:blipFill>
          <a:blip r:embed="rId3"/>
          <a:stretch>
            <a:fillRect/>
          </a:stretch>
        </p:blipFill>
        <p:spPr>
          <a:xfrm>
            <a:off x="2338847" y="1000927"/>
            <a:ext cx="7514303" cy="5625231"/>
          </a:xfrm>
          <a:prstGeom prst="rect">
            <a:avLst/>
          </a:prstGeom>
        </p:spPr>
      </p:pic>
      <p:sp>
        <p:nvSpPr>
          <p:cNvPr id="7" name="TextBox 6">
            <a:extLst>
              <a:ext uri="{FF2B5EF4-FFF2-40B4-BE49-F238E27FC236}">
                <a16:creationId xmlns:a16="http://schemas.microsoft.com/office/drawing/2014/main" id="{E56FB7F3-9BE8-E619-FAD9-3852312D03F1}"/>
              </a:ext>
            </a:extLst>
          </p:cNvPr>
          <p:cNvSpPr txBox="1"/>
          <p:nvPr/>
        </p:nvSpPr>
        <p:spPr>
          <a:xfrm>
            <a:off x="1943099" y="231842"/>
            <a:ext cx="8305801" cy="984885"/>
          </a:xfrm>
          <a:prstGeom prst="rect">
            <a:avLst/>
          </a:prstGeom>
          <a:noFill/>
        </p:spPr>
        <p:txBody>
          <a:bodyPr wrap="square" rtlCol="0">
            <a:spAutoFit/>
          </a:bodyPr>
          <a:lstStyle/>
          <a:p>
            <a:pPr algn="ctr"/>
            <a:r>
              <a:rPr lang="en-US" sz="4000" dirty="0"/>
              <a:t>Approaches to Intelligent Behavior</a:t>
            </a:r>
            <a:br>
              <a:rPr lang="en-US" dirty="0"/>
            </a:br>
            <a:endParaRPr lang="en-US" dirty="0"/>
          </a:p>
        </p:txBody>
      </p:sp>
    </p:spTree>
    <p:extLst>
      <p:ext uri="{BB962C8B-B14F-4D97-AF65-F5344CB8AC3E}">
        <p14:creationId xmlns:p14="http://schemas.microsoft.com/office/powerpoint/2010/main" val="1375888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AAF2C3-A201-F047-8758-3869961C6F67}"/>
              </a:ext>
            </a:extLst>
          </p:cNvPr>
          <p:cNvPicPr>
            <a:picLocks noChangeAspect="1"/>
          </p:cNvPicPr>
          <p:nvPr/>
        </p:nvPicPr>
        <p:blipFill>
          <a:blip r:embed="rId3"/>
          <a:stretch>
            <a:fillRect/>
          </a:stretch>
        </p:blipFill>
        <p:spPr>
          <a:xfrm>
            <a:off x="1600198" y="1212716"/>
            <a:ext cx="8991600" cy="5614710"/>
          </a:xfrm>
          <a:prstGeom prst="rect">
            <a:avLst/>
          </a:prstGeom>
        </p:spPr>
      </p:pic>
      <p:sp>
        <p:nvSpPr>
          <p:cNvPr id="7" name="TextBox 6">
            <a:extLst>
              <a:ext uri="{FF2B5EF4-FFF2-40B4-BE49-F238E27FC236}">
                <a16:creationId xmlns:a16="http://schemas.microsoft.com/office/drawing/2014/main" id="{1F4E59B7-8E14-71FF-16E4-9280583C7663}"/>
              </a:ext>
            </a:extLst>
          </p:cNvPr>
          <p:cNvSpPr txBox="1"/>
          <p:nvPr/>
        </p:nvSpPr>
        <p:spPr>
          <a:xfrm>
            <a:off x="2076448" y="227831"/>
            <a:ext cx="8039101" cy="984885"/>
          </a:xfrm>
          <a:prstGeom prst="rect">
            <a:avLst/>
          </a:prstGeom>
          <a:noFill/>
        </p:spPr>
        <p:txBody>
          <a:bodyPr wrap="square" rtlCol="0">
            <a:spAutoFit/>
          </a:bodyPr>
          <a:lstStyle/>
          <a:p>
            <a:pPr algn="ctr"/>
            <a:r>
              <a:rPr lang="en-US" sz="4000" dirty="0"/>
              <a:t>Intelligent Behavior in the Market</a:t>
            </a:r>
            <a:br>
              <a:rPr lang="en-US" dirty="0"/>
            </a:br>
            <a:endParaRPr lang="en-US" dirty="0"/>
          </a:p>
        </p:txBody>
      </p:sp>
    </p:spTree>
    <p:extLst>
      <p:ext uri="{BB962C8B-B14F-4D97-AF65-F5344CB8AC3E}">
        <p14:creationId xmlns:p14="http://schemas.microsoft.com/office/powerpoint/2010/main" val="2620153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027731-A65C-59BA-C3D7-B288099E29D0}"/>
              </a:ext>
            </a:extLst>
          </p:cNvPr>
          <p:cNvSpPr txBox="1"/>
          <p:nvPr/>
        </p:nvSpPr>
        <p:spPr>
          <a:xfrm>
            <a:off x="1062037" y="228600"/>
            <a:ext cx="10067926" cy="1600438"/>
          </a:xfrm>
          <a:prstGeom prst="rect">
            <a:avLst/>
          </a:prstGeom>
          <a:noFill/>
        </p:spPr>
        <p:txBody>
          <a:bodyPr wrap="square" rtlCol="0">
            <a:spAutoFit/>
          </a:bodyPr>
          <a:lstStyle/>
          <a:p>
            <a:pPr algn="ctr"/>
            <a:r>
              <a:rPr lang="en-US" sz="4000" dirty="0"/>
              <a:t>Identifying Intelligent Behavior</a:t>
            </a:r>
          </a:p>
          <a:p>
            <a:pPr algn="ctr"/>
            <a:r>
              <a:rPr lang="en-US" sz="4000" dirty="0"/>
              <a:t>The Imitation Game</a:t>
            </a:r>
            <a:br>
              <a:rPr lang="en-US" dirty="0"/>
            </a:br>
            <a:endParaRPr lang="en-US" dirty="0"/>
          </a:p>
        </p:txBody>
      </p:sp>
      <p:pic>
        <p:nvPicPr>
          <p:cNvPr id="7" name="Picture 6">
            <a:extLst>
              <a:ext uri="{FF2B5EF4-FFF2-40B4-BE49-F238E27FC236}">
                <a16:creationId xmlns:a16="http://schemas.microsoft.com/office/drawing/2014/main" id="{1DE76031-A7FD-67A2-AE4E-6B6D58F11A6A}"/>
              </a:ext>
            </a:extLst>
          </p:cNvPr>
          <p:cNvPicPr>
            <a:picLocks noChangeAspect="1"/>
          </p:cNvPicPr>
          <p:nvPr/>
        </p:nvPicPr>
        <p:blipFill>
          <a:blip r:embed="rId3"/>
          <a:stretch>
            <a:fillRect/>
          </a:stretch>
        </p:blipFill>
        <p:spPr>
          <a:xfrm>
            <a:off x="676605" y="2514600"/>
            <a:ext cx="6675698" cy="2331922"/>
          </a:xfrm>
          <a:prstGeom prst="rect">
            <a:avLst/>
          </a:prstGeom>
        </p:spPr>
      </p:pic>
      <p:pic>
        <p:nvPicPr>
          <p:cNvPr id="4098" name="Picture 2">
            <a:extLst>
              <a:ext uri="{FF2B5EF4-FFF2-40B4-BE49-F238E27FC236}">
                <a16:creationId xmlns:a16="http://schemas.microsoft.com/office/drawing/2014/main" id="{7EDE4F11-1792-EBF2-F1CB-389D73E1E0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33129" y="1943222"/>
            <a:ext cx="2381250" cy="31718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91494A2-60EE-07FB-080F-6824B76E8F0B}"/>
              </a:ext>
            </a:extLst>
          </p:cNvPr>
          <p:cNvSpPr txBox="1"/>
          <p:nvPr/>
        </p:nvSpPr>
        <p:spPr>
          <a:xfrm>
            <a:off x="9915831" y="5146473"/>
            <a:ext cx="1415846" cy="381000"/>
          </a:xfrm>
          <a:prstGeom prst="rect">
            <a:avLst/>
          </a:prstGeom>
          <a:noFill/>
        </p:spPr>
        <p:txBody>
          <a:bodyPr wrap="square">
            <a:spAutoFit/>
          </a:bodyPr>
          <a:lstStyle/>
          <a:p>
            <a:r>
              <a:rPr lang="en-US" dirty="0"/>
              <a:t>Alan Turing</a:t>
            </a:r>
          </a:p>
        </p:txBody>
      </p:sp>
      <p:sp>
        <p:nvSpPr>
          <p:cNvPr id="11" name="TextBox 10">
            <a:extLst>
              <a:ext uri="{FF2B5EF4-FFF2-40B4-BE49-F238E27FC236}">
                <a16:creationId xmlns:a16="http://schemas.microsoft.com/office/drawing/2014/main" id="{06FADD12-022D-BF63-E6D8-E8A4B86992B0}"/>
              </a:ext>
            </a:extLst>
          </p:cNvPr>
          <p:cNvSpPr txBox="1"/>
          <p:nvPr/>
        </p:nvSpPr>
        <p:spPr>
          <a:xfrm>
            <a:off x="164433" y="5103674"/>
            <a:ext cx="3850021" cy="1754326"/>
          </a:xfrm>
          <a:prstGeom prst="rect">
            <a:avLst/>
          </a:prstGeom>
          <a:noFill/>
        </p:spPr>
        <p:txBody>
          <a:bodyPr wrap="square">
            <a:spAutoFit/>
          </a:bodyPr>
          <a:lstStyle/>
          <a:p>
            <a:r>
              <a:rPr lang="en-US" dirty="0"/>
              <a:t> </a:t>
            </a:r>
            <a:r>
              <a:rPr lang="en-US" b="1" dirty="0"/>
              <a:t>Strengths</a:t>
            </a:r>
          </a:p>
          <a:p>
            <a:pPr marL="285750" indent="-285750">
              <a:buFont typeface="Arial" panose="020B0604020202020204" pitchFamily="34" charset="0"/>
              <a:buChar char="•"/>
            </a:pPr>
            <a:r>
              <a:rPr lang="en-US" dirty="0"/>
              <a:t>Simplicity</a:t>
            </a:r>
          </a:p>
          <a:p>
            <a:pPr marL="285750" indent="-285750">
              <a:buFont typeface="Arial" panose="020B0604020202020204" pitchFamily="34" charset="0"/>
              <a:buChar char="•"/>
            </a:pPr>
            <a:r>
              <a:rPr lang="en-US" dirty="0"/>
              <a:t>Breadth of subject matter</a:t>
            </a:r>
          </a:p>
          <a:p>
            <a:pPr marL="285750" indent="-285750">
              <a:buFont typeface="Arial" panose="020B0604020202020204" pitchFamily="34" charset="0"/>
              <a:buChar char="•"/>
            </a:pPr>
            <a:r>
              <a:rPr lang="en-US" dirty="0"/>
              <a:t>Include emotional and aesthetic intelligence</a:t>
            </a:r>
          </a:p>
          <a:p>
            <a:endParaRPr lang="en-US" dirty="0"/>
          </a:p>
        </p:txBody>
      </p:sp>
      <p:sp>
        <p:nvSpPr>
          <p:cNvPr id="13" name="TextBox 12">
            <a:extLst>
              <a:ext uri="{FF2B5EF4-FFF2-40B4-BE49-F238E27FC236}">
                <a16:creationId xmlns:a16="http://schemas.microsoft.com/office/drawing/2014/main" id="{2609057B-69EF-1F9C-7041-8CC349AD23E7}"/>
              </a:ext>
            </a:extLst>
          </p:cNvPr>
          <p:cNvSpPr txBox="1"/>
          <p:nvPr/>
        </p:nvSpPr>
        <p:spPr>
          <a:xfrm>
            <a:off x="4014454" y="5028963"/>
            <a:ext cx="4576800" cy="1200329"/>
          </a:xfrm>
          <a:prstGeom prst="rect">
            <a:avLst/>
          </a:prstGeom>
          <a:noFill/>
        </p:spPr>
        <p:txBody>
          <a:bodyPr wrap="square">
            <a:spAutoFit/>
          </a:bodyPr>
          <a:lstStyle/>
          <a:p>
            <a:r>
              <a:rPr lang="en-US" b="1" dirty="0"/>
              <a:t>Weaknesses</a:t>
            </a:r>
          </a:p>
          <a:p>
            <a:pPr marL="285750" indent="-285750">
              <a:buFont typeface="Arial" panose="020B0604020202020204" pitchFamily="34" charset="0"/>
              <a:buChar char="•"/>
            </a:pPr>
            <a:r>
              <a:rPr lang="en-US" dirty="0"/>
              <a:t>Some human behavior is unintelligent</a:t>
            </a:r>
          </a:p>
          <a:p>
            <a:pPr marL="285750" indent="-285750">
              <a:buFont typeface="Arial" panose="020B0604020202020204" pitchFamily="34" charset="0"/>
              <a:buChar char="•"/>
            </a:pPr>
            <a:r>
              <a:rPr lang="en-US" dirty="0"/>
              <a:t>Some intelligent behavior is inhuman</a:t>
            </a:r>
          </a:p>
          <a:p>
            <a:pPr marL="285750" indent="-285750">
              <a:buFont typeface="Arial" panose="020B0604020202020204" pitchFamily="34" charset="0"/>
              <a:buChar char="•"/>
            </a:pPr>
            <a:r>
              <a:rPr lang="en-US" dirty="0"/>
              <a:t>Searle’s Chinese room</a:t>
            </a:r>
          </a:p>
        </p:txBody>
      </p:sp>
    </p:spTree>
    <p:extLst>
      <p:ext uri="{BB962C8B-B14F-4D97-AF65-F5344CB8AC3E}">
        <p14:creationId xmlns:p14="http://schemas.microsoft.com/office/powerpoint/2010/main" val="496310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73EAD-3AFA-9B70-8C05-AC647EF05AA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B8B78FF-72F1-DBB8-91DD-E133A00152F9}"/>
              </a:ext>
            </a:extLst>
          </p:cNvPr>
          <p:cNvSpPr txBox="1"/>
          <p:nvPr/>
        </p:nvSpPr>
        <p:spPr>
          <a:xfrm>
            <a:off x="1062037" y="228600"/>
            <a:ext cx="10067926" cy="1600438"/>
          </a:xfrm>
          <a:prstGeom prst="rect">
            <a:avLst/>
          </a:prstGeom>
          <a:noFill/>
        </p:spPr>
        <p:txBody>
          <a:bodyPr wrap="square" rtlCol="0">
            <a:spAutoFit/>
          </a:bodyPr>
          <a:lstStyle/>
          <a:p>
            <a:pPr algn="ctr"/>
            <a:r>
              <a:rPr lang="en-US" sz="4000" dirty="0"/>
              <a:t>An Attack on Intelligent Behavior</a:t>
            </a:r>
          </a:p>
          <a:p>
            <a:pPr algn="ctr"/>
            <a:r>
              <a:rPr lang="en-US" sz="4000" dirty="0"/>
              <a:t>The Chinese Room</a:t>
            </a:r>
            <a:br>
              <a:rPr lang="en-US" dirty="0"/>
            </a:br>
            <a:endParaRPr lang="en-US" dirty="0"/>
          </a:p>
        </p:txBody>
      </p:sp>
      <p:pic>
        <p:nvPicPr>
          <p:cNvPr id="5122" name="Picture 2" descr="A Chinese Speaker's take on the Chinese Room | by Alan Tan | TDS Archive |  Medium">
            <a:extLst>
              <a:ext uri="{FF2B5EF4-FFF2-40B4-BE49-F238E27FC236}">
                <a16:creationId xmlns:a16="http://schemas.microsoft.com/office/drawing/2014/main" id="{74B692B4-0DC0-7407-5E4F-663A1BC067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665397"/>
            <a:ext cx="6096000" cy="37814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80B13551-E15E-DF10-B70F-494BBDCD61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2618" y="1798747"/>
            <a:ext cx="2381250" cy="35718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E3DFAF6-ED0D-36CD-2B7C-2D37A81BFE39}"/>
              </a:ext>
            </a:extLst>
          </p:cNvPr>
          <p:cNvSpPr txBox="1"/>
          <p:nvPr/>
        </p:nvSpPr>
        <p:spPr>
          <a:xfrm>
            <a:off x="9195320" y="5370622"/>
            <a:ext cx="1472680" cy="369332"/>
          </a:xfrm>
          <a:prstGeom prst="rect">
            <a:avLst/>
          </a:prstGeom>
          <a:noFill/>
        </p:spPr>
        <p:txBody>
          <a:bodyPr wrap="square">
            <a:spAutoFit/>
          </a:bodyPr>
          <a:lstStyle/>
          <a:p>
            <a:r>
              <a:rPr lang="en-US" dirty="0"/>
              <a:t>John Searle</a:t>
            </a:r>
          </a:p>
        </p:txBody>
      </p:sp>
    </p:spTree>
    <p:extLst>
      <p:ext uri="{BB962C8B-B14F-4D97-AF65-F5344CB8AC3E}">
        <p14:creationId xmlns:p14="http://schemas.microsoft.com/office/powerpoint/2010/main" val="3664725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A325B-5D16-7564-561E-004A248A9A0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CC55EFD-1F94-F3EA-CD35-F83907E9A7CB}"/>
              </a:ext>
            </a:extLst>
          </p:cNvPr>
          <p:cNvSpPr>
            <a:spLocks noGrp="1"/>
          </p:cNvSpPr>
          <p:nvPr>
            <p:ph type="subTitle" idx="1"/>
          </p:nvPr>
        </p:nvSpPr>
        <p:spPr>
          <a:xfrm>
            <a:off x="721892" y="5471875"/>
            <a:ext cx="11049000" cy="1157525"/>
          </a:xfrm>
        </p:spPr>
        <p:txBody>
          <a:bodyPr>
            <a:normAutofit/>
          </a:bodyPr>
          <a:lstStyle/>
          <a:p>
            <a:r>
              <a:rPr lang="en-US" sz="1800" dirty="0"/>
              <a:t>The Voight-Kampff test is used primarily by Blade Runners to determine if a suspect is truly human by measuring the degree of empathic response through carefully worded questions and statements.</a:t>
            </a:r>
          </a:p>
        </p:txBody>
      </p:sp>
      <p:sp>
        <p:nvSpPr>
          <p:cNvPr id="5" name="TextBox 4">
            <a:extLst>
              <a:ext uri="{FF2B5EF4-FFF2-40B4-BE49-F238E27FC236}">
                <a16:creationId xmlns:a16="http://schemas.microsoft.com/office/drawing/2014/main" id="{9468279F-AF40-28A3-3521-A42C183EE244}"/>
              </a:ext>
            </a:extLst>
          </p:cNvPr>
          <p:cNvSpPr txBox="1"/>
          <p:nvPr/>
        </p:nvSpPr>
        <p:spPr>
          <a:xfrm>
            <a:off x="944982" y="228600"/>
            <a:ext cx="11049000" cy="1600438"/>
          </a:xfrm>
          <a:prstGeom prst="rect">
            <a:avLst/>
          </a:prstGeom>
          <a:noFill/>
        </p:spPr>
        <p:txBody>
          <a:bodyPr wrap="square" rtlCol="0">
            <a:spAutoFit/>
          </a:bodyPr>
          <a:lstStyle/>
          <a:p>
            <a:pPr algn="ctr"/>
            <a:r>
              <a:rPr lang="en-US" sz="4000" dirty="0"/>
              <a:t>Identifying Other Than Intelligent Behavior</a:t>
            </a:r>
          </a:p>
          <a:p>
            <a:pPr algn="ctr"/>
            <a:r>
              <a:rPr lang="en-US" sz="4000" dirty="0"/>
              <a:t>The Voight-Kampff Test</a:t>
            </a:r>
            <a:br>
              <a:rPr lang="en-US" dirty="0"/>
            </a:br>
            <a:endParaRPr lang="en-US" dirty="0"/>
          </a:p>
        </p:txBody>
      </p:sp>
      <p:pic>
        <p:nvPicPr>
          <p:cNvPr id="6146" name="Picture 2" descr="Blade Runner's Voight-Kampff Test Is Basically Fake (In Canon)">
            <a:extLst>
              <a:ext uri="{FF2B5EF4-FFF2-40B4-BE49-F238E27FC236}">
                <a16:creationId xmlns:a16="http://schemas.microsoft.com/office/drawing/2014/main" id="{4B6E6DC6-BC76-D0F0-6C92-51DB458D1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393" y="2043113"/>
            <a:ext cx="5714999" cy="321468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8 Reasons The Voight-Kampff Machine is shit (and a redesign to fix it) |  Sci-fi interfaces">
            <a:extLst>
              <a:ext uri="{FF2B5EF4-FFF2-40B4-BE49-F238E27FC236}">
                <a16:creationId xmlns:a16="http://schemas.microsoft.com/office/drawing/2014/main" id="{C6CCFE52-C191-26E3-439A-B95E54EDB8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9482" y="2570640"/>
            <a:ext cx="5191125" cy="2238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057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35D1C2-AC40-0F0F-DF06-98EE3EDAD5BE}"/>
              </a:ext>
            </a:extLst>
          </p:cNvPr>
          <p:cNvPicPr>
            <a:picLocks noChangeAspect="1"/>
          </p:cNvPicPr>
          <p:nvPr/>
        </p:nvPicPr>
        <p:blipFill>
          <a:blip r:embed="rId3"/>
          <a:stretch>
            <a:fillRect/>
          </a:stretch>
        </p:blipFill>
        <p:spPr>
          <a:xfrm>
            <a:off x="352552" y="228599"/>
            <a:ext cx="11458447" cy="6384949"/>
          </a:xfrm>
          <a:prstGeom prst="rect">
            <a:avLst/>
          </a:prstGeom>
        </p:spPr>
      </p:pic>
    </p:spTree>
    <p:extLst>
      <p:ext uri="{BB962C8B-B14F-4D97-AF65-F5344CB8AC3E}">
        <p14:creationId xmlns:p14="http://schemas.microsoft.com/office/powerpoint/2010/main" val="3500708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8401CF-4AD6-ED20-3429-3C6C69605BF9}"/>
              </a:ext>
            </a:extLst>
          </p:cNvPr>
          <p:cNvPicPr>
            <a:picLocks noChangeAspect="1"/>
          </p:cNvPicPr>
          <p:nvPr/>
        </p:nvPicPr>
        <p:blipFill>
          <a:blip r:embed="rId3"/>
          <a:stretch>
            <a:fillRect/>
          </a:stretch>
        </p:blipFill>
        <p:spPr>
          <a:xfrm>
            <a:off x="2209800" y="91151"/>
            <a:ext cx="9655377" cy="6675698"/>
          </a:xfrm>
          <a:prstGeom prst="rect">
            <a:avLst/>
          </a:prstGeom>
        </p:spPr>
      </p:pic>
      <p:sp>
        <p:nvSpPr>
          <p:cNvPr id="6" name="TextBox 5">
            <a:extLst>
              <a:ext uri="{FF2B5EF4-FFF2-40B4-BE49-F238E27FC236}">
                <a16:creationId xmlns:a16="http://schemas.microsoft.com/office/drawing/2014/main" id="{05EDA79D-0453-262E-892A-E1F435C2FB20}"/>
              </a:ext>
            </a:extLst>
          </p:cNvPr>
          <p:cNvSpPr txBox="1"/>
          <p:nvPr/>
        </p:nvSpPr>
        <p:spPr>
          <a:xfrm>
            <a:off x="533400" y="2967335"/>
            <a:ext cx="1066800" cy="461665"/>
          </a:xfrm>
          <a:prstGeom prst="rect">
            <a:avLst/>
          </a:prstGeom>
          <a:noFill/>
        </p:spPr>
        <p:txBody>
          <a:bodyPr wrap="square" rtlCol="0">
            <a:spAutoFit/>
          </a:bodyPr>
          <a:lstStyle/>
          <a:p>
            <a:r>
              <a:rPr lang="en-US" sz="2400" dirty="0"/>
              <a:t>2026</a:t>
            </a:r>
          </a:p>
        </p:txBody>
      </p:sp>
    </p:spTree>
    <p:extLst>
      <p:ext uri="{BB962C8B-B14F-4D97-AF65-F5344CB8AC3E}">
        <p14:creationId xmlns:p14="http://schemas.microsoft.com/office/powerpoint/2010/main" val="2376163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F5D4B-65DC-EC76-90AD-3C218033D3BC}"/>
              </a:ext>
            </a:extLst>
          </p:cNvPr>
          <p:cNvSpPr>
            <a:spLocks noGrp="1"/>
          </p:cNvSpPr>
          <p:nvPr>
            <p:ph type="title"/>
          </p:nvPr>
        </p:nvSpPr>
        <p:spPr>
          <a:xfrm>
            <a:off x="4752300" y="2762250"/>
            <a:ext cx="2687400" cy="1333500"/>
          </a:xfrm>
        </p:spPr>
        <p:txBody>
          <a:bodyPr/>
          <a:lstStyle/>
          <a:p>
            <a:r>
              <a:rPr lang="en-US" dirty="0"/>
              <a:t>End</a:t>
            </a:r>
          </a:p>
        </p:txBody>
      </p:sp>
    </p:spTree>
    <p:extLst>
      <p:ext uri="{BB962C8B-B14F-4D97-AF65-F5344CB8AC3E}">
        <p14:creationId xmlns:p14="http://schemas.microsoft.com/office/powerpoint/2010/main" val="3830981560"/>
      </p:ext>
    </p:extLst>
  </p:cSld>
  <p:clrMapOvr>
    <a:masterClrMapping/>
  </p:clrMapOvr>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33346F-C811-4404-B626-0E7631B21215}">
  <ds:schemaRefs>
    <ds:schemaRef ds:uri="http://schemas.microsoft.com/sharepoint/v3/contenttype/forms"/>
  </ds:schemaRefs>
</ds:datastoreItem>
</file>

<file path=customXml/itemProps2.xml><?xml version="1.0" encoding="utf-8"?>
<ds:datastoreItem xmlns:ds="http://schemas.openxmlformats.org/officeDocument/2006/customXml" ds:itemID="{0DA384A2-DC2C-4578-B8CE-512657D68B3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E2E911A2-2017-41E4-8340-9C55208F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{02CE0714-151D-4541-87BB-4E316A68C330}977d9fe9-4445-4c48-bc9c-1fe8e23d557c-TF7d956844-ebdd-4ca4-b538-a1bcfc9ad3f053165620_win32</Template>
  <TotalTime>0</TotalTime>
  <Words>3221</Words>
  <Application>Microsoft Office PowerPoint</Application>
  <PresentationFormat>Widescreen</PresentationFormat>
  <Paragraphs>178</Paragraphs>
  <Slides>14</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Neue Haas Grotesk Text Pro</vt:lpstr>
      <vt:lpstr>Oasis</vt:lpstr>
      <vt:lpstr>Artificial Intelligence </vt:lpstr>
      <vt:lpstr>PowerPoint Presentation</vt:lpstr>
      <vt:lpstr> Q. what is artificial intelligence?   A. It is the science and engineering of making intelligent machines, especially intelligent computer programs. It is related to the similar task of using computers to understand human intelligence, but AI does not have to confine itself to methods that are biologically observable.   Q. What is intelligence?   A. Intelligence is the computational part of the ability to achieve goals in the world. Varying kinds and degrees of intelligence occur in people, many animals and some machines.   Q. Isn't there a solid definition of intelligence that doesn't depend on relating it to human intelligence?   A. Not yet. The problem is that we cannot yet characterize in general what kinds of computational procedures we want to call intelligent. We understand some of the mechanisms of intelligence and not others.   Reference: McCarthy, J. (2007, November 12). What is artificial intelligence? Basic questions. Formal Reasoning Group, Stanford University. http://www-formal.stanford.edu/jmc/whatisai/node1.html</vt:lpstr>
      <vt:lpstr>PowerPoint Presentation</vt:lpstr>
      <vt:lpstr> Human intelligence is, generally speaking, the mental quality that consists of the abilities to learn from experience, adapt to new situations, understand and handle abstract concepts, and use knowledge to control an environment. However, the question of what, exactly, defines human intelligence is contested, particularly among researchers of artificial intelligence, though there is broader agreement that intelligence consists of multiple processes, rather than being a single ability.  Reference: The Editors of Encyclopedia Britannica. (2025, March 13). What is human intelligence? Encyclopedia Britannica. https://www.britannica.com/question/What-is-human-intelligence</vt:lpstr>
      <vt:lpstr> Artificial Intelligence (AI), broadly (and somewhat circularly) defined, is concerned with intelligent behavior in artifacts. Intelligent behavior, in turn, involves perception, reasoning, learning, communicating, and acting in complex environments.   Reference: Nilsson, N. J. (1998). Artificial intelligence: A new synthesis. Morgan Kaufmann Publishers.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Gregory Wagonblast</dc:creator>
  <cp:lastModifiedBy>Gregory Wagonblast</cp:lastModifiedBy>
  <cp:revision>19</cp:revision>
  <dcterms:created xsi:type="dcterms:W3CDTF">2026-06-05T14:52:18Z</dcterms:created>
  <dcterms:modified xsi:type="dcterms:W3CDTF">2026-06-26T16:08:33Z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